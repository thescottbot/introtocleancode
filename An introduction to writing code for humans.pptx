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6" r:id="rId5"/>
    <p:sldId id="257" r:id="rId6"/>
    <p:sldId id="258" r:id="rId7"/>
    <p:sldId id="259" r:id="rId8"/>
    <p:sldId id="260" r:id="rId9"/>
    <p:sldId id="263" r:id="rId10"/>
    <p:sldId id="262" r:id="rId11"/>
    <p:sldId id="264" r:id="rId12"/>
    <p:sldId id="267" r:id="rId13"/>
    <p:sldId id="265" r:id="rId14"/>
    <p:sldId id="268" r:id="rId15"/>
    <p:sldId id="266" r:id="rId16"/>
    <p:sldId id="269" r:id="rId17"/>
    <p:sldId id="270" r:id="rId18"/>
    <p:sldId id="274" r:id="rId19"/>
    <p:sldId id="271" r:id="rId20"/>
    <p:sldId id="272" r:id="rId21"/>
    <p:sldId id="276" r:id="rId22"/>
    <p:sldId id="277" r:id="rId23"/>
    <p:sldId id="279" r:id="rId24"/>
    <p:sldId id="280" r:id="rId25"/>
    <p:sldId id="278" r:id="rId26"/>
    <p:sldId id="27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30F28D-CF04-4DE9-8258-0D6813255316}" v="1" dt="2020-03-11T13:56:28.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ppett,S,Scott,TAJ451 R" userId="9e7f09fa-a312-41d5-957e-c180758b3ee9" providerId="ADAL" clId="{F530F28D-CF04-4DE9-8258-0D6813255316}"/>
    <pc:docChg chg="custSel modSld">
      <pc:chgData name="Tippett,S,Scott,TAJ451 R" userId="9e7f09fa-a312-41d5-957e-c180758b3ee9" providerId="ADAL" clId="{F530F28D-CF04-4DE9-8258-0D6813255316}" dt="2020-03-11T13:56:28.427" v="16" actId="207"/>
      <pc:docMkLst>
        <pc:docMk/>
      </pc:docMkLst>
      <pc:sldChg chg="modNotesTx">
        <pc:chgData name="Tippett,S,Scott,TAJ451 R" userId="9e7f09fa-a312-41d5-957e-c180758b3ee9" providerId="ADAL" clId="{F530F28D-CF04-4DE9-8258-0D6813255316}" dt="2020-03-11T09:33:49.258" v="15" actId="20577"/>
        <pc:sldMkLst>
          <pc:docMk/>
          <pc:sldMk cId="0" sldId="256"/>
        </pc:sldMkLst>
      </pc:sldChg>
      <pc:sldChg chg="modSp">
        <pc:chgData name="Tippett,S,Scott,TAJ451 R" userId="9e7f09fa-a312-41d5-957e-c180758b3ee9" providerId="ADAL" clId="{F530F28D-CF04-4DE9-8258-0D6813255316}" dt="2020-03-11T13:56:28.427" v="16" actId="207"/>
        <pc:sldMkLst>
          <pc:docMk/>
          <pc:sldMk cId="0" sldId="264"/>
        </pc:sldMkLst>
        <pc:spChg chg="mod">
          <ac:chgData name="Tippett,S,Scott,TAJ451 R" userId="9e7f09fa-a312-41d5-957e-c180758b3ee9" providerId="ADAL" clId="{F530F28D-CF04-4DE9-8258-0D6813255316}" dt="2020-03-11T13:56:28.427" v="16" actId="207"/>
          <ac:spMkLst>
            <pc:docMk/>
            <pc:sldMk cId="0" sldId="264"/>
            <ac:spMk id="5" creationId="{EF2FBD6F-3DD4-4C0C-A1CE-3E430C4038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AF5AD-AD32-48C5-A6A8-3BE62242FADF}"/>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3" name="Date Placeholder 2">
            <a:extLst>
              <a:ext uri="{FF2B5EF4-FFF2-40B4-BE49-F238E27FC236}">
                <a16:creationId xmlns:a16="http://schemas.microsoft.com/office/drawing/2014/main" id="{DE74E102-FB72-464A-9661-09E61A1A0232}"/>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6DBFDC51-6D79-43A5-96C5-6B2FC948009B}" type="datetime1">
              <a:rPr lang="en-GB"/>
              <a:pPr lvl="0"/>
              <a:t>11/03/2020</a:t>
            </a:fld>
            <a:endParaRPr lang="en-GB"/>
          </a:p>
        </p:txBody>
      </p:sp>
      <p:sp>
        <p:nvSpPr>
          <p:cNvPr id="4" name="Slide Image Placeholder 3">
            <a:extLst>
              <a:ext uri="{FF2B5EF4-FFF2-40B4-BE49-F238E27FC236}">
                <a16:creationId xmlns:a16="http://schemas.microsoft.com/office/drawing/2014/main" id="{AFF016F6-0D1E-4F3B-9852-11B67AA98131}"/>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C20CB371-7C02-4848-8653-8B89BA408AD6}"/>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a:extLst>
              <a:ext uri="{FF2B5EF4-FFF2-40B4-BE49-F238E27FC236}">
                <a16:creationId xmlns:a16="http://schemas.microsoft.com/office/drawing/2014/main" id="{7CB22CF3-38B0-4C8F-9178-AB3988D13DC7}"/>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7" name="Slide Number Placeholder 6">
            <a:extLst>
              <a:ext uri="{FF2B5EF4-FFF2-40B4-BE49-F238E27FC236}">
                <a16:creationId xmlns:a16="http://schemas.microsoft.com/office/drawing/2014/main" id="{4420BBA9-2C93-44D6-AB0C-C54D12CC612D}"/>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3D378C93-85AC-4796-A339-29599BB9429F}" type="slidenum">
              <a:t>‹#›</a:t>
            </a:fld>
            <a:endParaRPr lang="en-GB"/>
          </a:p>
        </p:txBody>
      </p:sp>
    </p:spTree>
    <p:extLst>
      <p:ext uri="{BB962C8B-B14F-4D97-AF65-F5344CB8AC3E}">
        <p14:creationId xmlns:p14="http://schemas.microsoft.com/office/powerpoint/2010/main" val="1831279376"/>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353D2-3B24-4AA8-AED0-96CA987DD8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547688D-AB21-4B4C-A149-35CDC530E2F2}"/>
              </a:ext>
            </a:extLst>
          </p:cNvPr>
          <p:cNvSpPr txBox="1">
            <a:spLocks noGrp="1"/>
          </p:cNvSpPr>
          <p:nvPr>
            <p:ph type="body" sz="quarter" idx="1"/>
          </p:nvPr>
        </p:nvSpPr>
        <p:spPr/>
        <p:txBody>
          <a:bodyPr/>
          <a:lstStyle/>
          <a:p>
            <a:pPr lvl="0"/>
            <a:r>
              <a:rPr lang="en-GB" dirty="0"/>
              <a:t>Advanced warning of expletives, quick introduction to clean code; summarise that clean code is a term used for writing code that is well tested, self documenting and nice to read</a:t>
            </a:r>
          </a:p>
          <a:p>
            <a:pPr lvl="0"/>
            <a:r>
              <a:rPr lang="en-GB" dirty="0"/>
              <a:t>Examples in C#</a:t>
            </a:r>
          </a:p>
        </p:txBody>
      </p:sp>
      <p:sp>
        <p:nvSpPr>
          <p:cNvPr id="4" name="Slide Number Placeholder 3">
            <a:extLst>
              <a:ext uri="{FF2B5EF4-FFF2-40B4-BE49-F238E27FC236}">
                <a16:creationId xmlns:a16="http://schemas.microsoft.com/office/drawing/2014/main" id="{C3B7A6D7-3108-4205-97E8-C4A984A7E5AC}"/>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27DF135-05D3-4AB2-96EB-2D820728B7E2}" type="slidenum">
              <a:t>1</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6229A-BBC6-47A7-B2F6-3E13DE181F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B1FA174-1616-4D6C-B5ED-447FA1409A21}"/>
              </a:ext>
            </a:extLst>
          </p:cNvPr>
          <p:cNvSpPr txBox="1">
            <a:spLocks noGrp="1"/>
          </p:cNvSpPr>
          <p:nvPr>
            <p:ph type="body" sz="quarter" idx="1"/>
          </p:nvPr>
        </p:nvSpPr>
        <p:spPr/>
        <p:txBody>
          <a:bodyPr/>
          <a:lstStyle/>
          <a:p>
            <a:r>
              <a:rPr lang="en-GB" dirty="0"/>
              <a:t>Blah blah blah, me </a:t>
            </a:r>
            <a:r>
              <a:rPr lang="en-GB" dirty="0" err="1"/>
              <a:t>me</a:t>
            </a:r>
            <a:r>
              <a:rPr lang="en-GB" dirty="0"/>
              <a:t> </a:t>
            </a:r>
            <a:r>
              <a:rPr lang="en-GB" dirty="0" err="1"/>
              <a:t>me</a:t>
            </a:r>
            <a:r>
              <a:rPr lang="en-GB" dirty="0"/>
              <a:t>.</a:t>
            </a:r>
          </a:p>
        </p:txBody>
      </p:sp>
      <p:sp>
        <p:nvSpPr>
          <p:cNvPr id="4" name="Slide Number Placeholder 3">
            <a:extLst>
              <a:ext uri="{FF2B5EF4-FFF2-40B4-BE49-F238E27FC236}">
                <a16:creationId xmlns:a16="http://schemas.microsoft.com/office/drawing/2014/main" id="{8F4BCDEC-0B63-40D7-98FE-2A0BE17163F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674EFF9-958E-4095-BBC3-F4784CA6CA15}" type="slidenum">
              <a:t>2</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403A0-7B8D-487B-947E-EF193042E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D94E4-6358-4323-9812-26D8A5181E35}"/>
              </a:ext>
            </a:extLst>
          </p:cNvPr>
          <p:cNvSpPr txBox="1">
            <a:spLocks noGrp="1"/>
          </p:cNvSpPr>
          <p:nvPr>
            <p:ph type="body" sz="quarter" idx="1"/>
          </p:nvPr>
        </p:nvSpPr>
        <p:spPr/>
        <p:txBody>
          <a:bodyPr/>
          <a:lstStyle/>
          <a:p>
            <a:pPr lvl="0"/>
            <a:r>
              <a:rPr lang="en-GB" dirty="0"/>
              <a:t>Code is complex, the more of it you write the more of it you have to maintain. Maintaining code takes time, and time is money, money which we have to pay in future; therefore all code is tech debt</a:t>
            </a:r>
          </a:p>
        </p:txBody>
      </p:sp>
      <p:sp>
        <p:nvSpPr>
          <p:cNvPr id="4" name="Slide Number Placeholder 3">
            <a:extLst>
              <a:ext uri="{FF2B5EF4-FFF2-40B4-BE49-F238E27FC236}">
                <a16:creationId xmlns:a16="http://schemas.microsoft.com/office/drawing/2014/main" id="{CCBBE524-CF80-49A5-BC53-5C3191DA9FDB}"/>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41F3CA9-E999-4E08-8396-A3F513A407B5}" type="slidenum">
              <a:t>3</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3D017-268A-44C4-BCBD-EEFFE376D2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354A6F2-FE2E-4762-8B37-47AA9711EA96}"/>
              </a:ext>
            </a:extLst>
          </p:cNvPr>
          <p:cNvSpPr txBox="1">
            <a:spLocks noGrp="1"/>
          </p:cNvSpPr>
          <p:nvPr>
            <p:ph type="body" sz="quarter" idx="1"/>
          </p:nvPr>
        </p:nvSpPr>
        <p:spPr/>
        <p:txBody>
          <a:bodyPr/>
          <a:lstStyle/>
          <a:p>
            <a:r>
              <a:rPr lang="en-GB" dirty="0"/>
              <a:t>Lol, simple – get it as we’re trying to make it simple and the process is simple too</a:t>
            </a:r>
          </a:p>
          <a:p>
            <a:endParaRPr lang="en-GB" dirty="0"/>
          </a:p>
          <a:p>
            <a:r>
              <a:rPr lang="en-GB" dirty="0"/>
              <a:t>Reducing the time spent understanding a problem is simple, make the solution describe itself so you can easily dive into the level of detail you need</a:t>
            </a:r>
          </a:p>
          <a:p>
            <a:endParaRPr lang="en-GB" dirty="0"/>
          </a:p>
          <a:p>
            <a:r>
              <a:rPr lang="en-GB" dirty="0"/>
              <a:t>Complexity is not something that belongs in code, sure problems can be complex but it’s our job as programmers to make it look elegant </a:t>
            </a:r>
          </a:p>
        </p:txBody>
      </p:sp>
      <p:sp>
        <p:nvSpPr>
          <p:cNvPr id="4" name="Slide Number Placeholder 3">
            <a:extLst>
              <a:ext uri="{FF2B5EF4-FFF2-40B4-BE49-F238E27FC236}">
                <a16:creationId xmlns:a16="http://schemas.microsoft.com/office/drawing/2014/main" id="{1FEFE445-7D2B-4151-87D1-92F5F011F732}"/>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5AE2527-1BAE-48FE-BBE0-F8BC9C815220}" type="slidenum">
              <a:t>4</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BC769-4D35-49BF-AB06-327473883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3A216-6A47-4A2E-834E-D74DE254AC9B}"/>
              </a:ext>
            </a:extLst>
          </p:cNvPr>
          <p:cNvSpPr txBox="1">
            <a:spLocks noGrp="1"/>
          </p:cNvSpPr>
          <p:nvPr>
            <p:ph type="body" sz="quarter" idx="1"/>
          </p:nvPr>
        </p:nvSpPr>
        <p:spPr/>
        <p:txBody>
          <a:bodyPr/>
          <a:lstStyle/>
          <a:p>
            <a:pPr lvl="0"/>
            <a:r>
              <a:rPr lang="en-GB"/>
              <a:t>Give 30 seconds to examine code</a:t>
            </a:r>
          </a:p>
        </p:txBody>
      </p:sp>
      <p:sp>
        <p:nvSpPr>
          <p:cNvPr id="4" name="Slide Number Placeholder 3">
            <a:extLst>
              <a:ext uri="{FF2B5EF4-FFF2-40B4-BE49-F238E27FC236}">
                <a16:creationId xmlns:a16="http://schemas.microsoft.com/office/drawing/2014/main" id="{2607C5BB-09E1-4940-BE3B-B5ED9BEDEE0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252F08A-73AD-4C32-A57C-7BA975CC41CB}" type="slidenum">
              <a:t>5</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779D4-C50C-411B-BF48-608F69B9B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334F6-2F16-42EB-999D-17A8094CC47E}"/>
              </a:ext>
            </a:extLst>
          </p:cNvPr>
          <p:cNvSpPr txBox="1">
            <a:spLocks noGrp="1"/>
          </p:cNvSpPr>
          <p:nvPr>
            <p:ph type="body" sz="quarter" idx="1"/>
          </p:nvPr>
        </p:nvSpPr>
        <p:spPr/>
        <p:txBody>
          <a:bodyPr/>
          <a:lstStyle/>
          <a:p>
            <a:pPr lvl="0"/>
            <a:r>
              <a:rPr lang="en-GB"/>
              <a:t>This isn’t the best it could be, but it’s a whole lot more descriptive of what it’s doing than the previous one. We can tell it’s a game, or at least something that you can win, there's also a board, so that helps us narrow it down. There are pieces to be positioned on a board, and the  pieces are ‘O’ and ‘X’; or “Noughts” and “Crosses”</a:t>
            </a:r>
          </a:p>
          <a:p>
            <a:pPr lvl="0"/>
            <a:endParaRPr lang="en-GB"/>
          </a:p>
          <a:p>
            <a:pPr lvl="0"/>
            <a:r>
              <a:rPr lang="en-GB"/>
              <a:t>We can also tell that it’s impossible to win the game before turn 5</a:t>
            </a:r>
          </a:p>
        </p:txBody>
      </p:sp>
      <p:sp>
        <p:nvSpPr>
          <p:cNvPr id="4" name="Slide Number Placeholder 3">
            <a:extLst>
              <a:ext uri="{FF2B5EF4-FFF2-40B4-BE49-F238E27FC236}">
                <a16:creationId xmlns:a16="http://schemas.microsoft.com/office/drawing/2014/main" id="{6FE7E258-F0F8-403A-934E-332EB13C023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7B84B21-7C29-4AEA-A569-C40785C6CABF}" type="slidenum">
              <a:t>6</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EF3E8-9FD3-4233-9178-00FEF4DB2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1F94F-9187-4F66-89AB-CA2A37A817B8}"/>
              </a:ext>
            </a:extLst>
          </p:cNvPr>
          <p:cNvSpPr txBox="1">
            <a:spLocks noGrp="1"/>
          </p:cNvSpPr>
          <p:nvPr>
            <p:ph type="body" sz="quarter" idx="1"/>
          </p:nvPr>
        </p:nvSpPr>
        <p:spPr/>
        <p:txBody>
          <a:bodyPr/>
          <a:lstStyle/>
          <a:p>
            <a:pPr lvl="0"/>
            <a:r>
              <a:rPr lang="en-GB" dirty="0"/>
              <a:t>So, the left is an example of bad code, the right an example of clean(</a:t>
            </a:r>
            <a:r>
              <a:rPr lang="en-GB" dirty="0" err="1"/>
              <a:t>er</a:t>
            </a:r>
            <a:r>
              <a:rPr lang="en-GB" dirty="0"/>
              <a:t>) code</a:t>
            </a:r>
          </a:p>
          <a:p>
            <a:pPr lvl="0"/>
            <a:endParaRPr lang="en-GB" dirty="0"/>
          </a:p>
          <a:p>
            <a:pPr lvl="0"/>
            <a:r>
              <a:rPr lang="en-GB" dirty="0"/>
              <a:t>Lets think about how we can make the code on the left cleaner. </a:t>
            </a:r>
          </a:p>
        </p:txBody>
      </p:sp>
      <p:sp>
        <p:nvSpPr>
          <p:cNvPr id="4" name="Slide Number Placeholder 3">
            <a:extLst>
              <a:ext uri="{FF2B5EF4-FFF2-40B4-BE49-F238E27FC236}">
                <a16:creationId xmlns:a16="http://schemas.microsoft.com/office/drawing/2014/main" id="{670B4CE1-E63C-4AAB-81B6-10C5B3050AA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26B194E-5707-4F4E-902F-8210EEE867C0}" type="slidenum">
              <a:t>7</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Bad. Magic variables (numbers, strings etc.) are bad</a:t>
            </a:r>
          </a:p>
          <a:p>
            <a:endParaRPr lang="en-GB" dirty="0"/>
          </a:p>
          <a:p>
            <a:r>
              <a:rPr lang="en-GB" dirty="0"/>
              <a:t>Magic numbers are just values that tell us nothing. We need domain, and execution knowledge to understand what that value means and why it is significant. To gain this knowledge we need to invest time. This knowledge then “walks out the door”</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8</a:t>
            </a:fld>
            <a:endParaRPr lang="en-GB"/>
          </a:p>
        </p:txBody>
      </p:sp>
    </p:spTree>
    <p:extLst>
      <p:ext uri="{BB962C8B-B14F-4D97-AF65-F5344CB8AC3E}">
        <p14:creationId xmlns:p14="http://schemas.microsoft.com/office/powerpoint/2010/main" val="3598159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If your language support constants – use them. Everywhere</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9</a:t>
            </a:fld>
            <a:endParaRPr lang="en-GB"/>
          </a:p>
        </p:txBody>
      </p:sp>
    </p:spTree>
    <p:extLst>
      <p:ext uri="{BB962C8B-B14F-4D97-AF65-F5344CB8AC3E}">
        <p14:creationId xmlns:p14="http://schemas.microsoft.com/office/powerpoint/2010/main" val="1218354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Variable and functions should describe what they are for</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10</a:t>
            </a:fld>
            <a:endParaRPr lang="en-GB"/>
          </a:p>
        </p:txBody>
      </p:sp>
    </p:spTree>
    <p:extLst>
      <p:ext uri="{BB962C8B-B14F-4D97-AF65-F5344CB8AC3E}">
        <p14:creationId xmlns:p14="http://schemas.microsoft.com/office/powerpoint/2010/main" val="3323215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Take note of the use of the word “think”. I “THINK” these are diagonal1/2 but can’t say for sure. Can reference variable name 2 slides back – there is no misunderstanding what that is</a:t>
            </a:r>
          </a:p>
          <a:p>
            <a:endParaRPr lang="en-GB" dirty="0"/>
          </a:p>
        </p:txBody>
      </p:sp>
      <p:sp>
        <p:nvSpPr>
          <p:cNvPr id="4" name="Slide Number Placeholder 3"/>
          <p:cNvSpPr>
            <a:spLocks noGrp="1"/>
          </p:cNvSpPr>
          <p:nvPr>
            <p:ph type="sldNum" sz="quarter" idx="5"/>
          </p:nvPr>
        </p:nvSpPr>
        <p:spPr/>
        <p:txBody>
          <a:bodyPr/>
          <a:lstStyle/>
          <a:p>
            <a:pPr lvl="0"/>
            <a:fld id="{3D378C93-85AC-4796-A339-29599BB9429F}" type="slidenum">
              <a:rPr lang="en-GB" smtClean="0"/>
              <a:t>11</a:t>
            </a:fld>
            <a:endParaRPr lang="en-GB"/>
          </a:p>
        </p:txBody>
      </p:sp>
    </p:spTree>
    <p:extLst>
      <p:ext uri="{BB962C8B-B14F-4D97-AF65-F5344CB8AC3E}">
        <p14:creationId xmlns:p14="http://schemas.microsoft.com/office/powerpoint/2010/main" val="692563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Signal to noise is a concept used in other engineering professions for why shouldn’t we consider it. Noise in our case is anything that distracts from the important information. Repetition is a great example</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12</a:t>
            </a:fld>
            <a:endParaRPr lang="en-GB"/>
          </a:p>
        </p:txBody>
      </p:sp>
    </p:spTree>
    <p:extLst>
      <p:ext uri="{BB962C8B-B14F-4D97-AF65-F5344CB8AC3E}">
        <p14:creationId xmlns:p14="http://schemas.microsoft.com/office/powerpoint/2010/main" val="148088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Syntactic sugar aside, it’s clear that abstracting out the logic from the if into a function allows for us to digest that information quickly, then if we need to understand the details we can.</a:t>
            </a:r>
          </a:p>
          <a:p>
            <a:endParaRPr lang="en-GB" dirty="0"/>
          </a:p>
          <a:p>
            <a:r>
              <a:rPr lang="en-GB" dirty="0"/>
              <a:t>It’s important to have information there to be consumed by people who need it, but not there for people that don’t. You don’t want to have to read and more importantly understand complicated logic if you have no use for it at that moment in time</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14</a:t>
            </a:fld>
            <a:endParaRPr lang="en-GB"/>
          </a:p>
        </p:txBody>
      </p:sp>
    </p:spTree>
    <p:extLst>
      <p:ext uri="{BB962C8B-B14F-4D97-AF65-F5344CB8AC3E}">
        <p14:creationId xmlns:p14="http://schemas.microsoft.com/office/powerpoint/2010/main" val="1360033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Redundant information just takes time and space</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15</a:t>
            </a:fld>
            <a:endParaRPr lang="en-GB"/>
          </a:p>
        </p:txBody>
      </p:sp>
    </p:spTree>
    <p:extLst>
      <p:ext uri="{BB962C8B-B14F-4D97-AF65-F5344CB8AC3E}">
        <p14:creationId xmlns:p14="http://schemas.microsoft.com/office/powerpoint/2010/main" val="2797875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err="1"/>
              <a:t>Yyyyyyyyyyyyyyyyyyyyyyyyyyyyyyyyyts</a:t>
            </a:r>
            <a:r>
              <a:rPr lang="en-GB" dirty="0"/>
              <a:t> comments</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16</a:t>
            </a:fld>
            <a:endParaRPr lang="en-GB"/>
          </a:p>
        </p:txBody>
      </p:sp>
    </p:spTree>
    <p:extLst>
      <p:ext uri="{BB962C8B-B14F-4D97-AF65-F5344CB8AC3E}">
        <p14:creationId xmlns:p14="http://schemas.microsoft.com/office/powerpoint/2010/main" val="4247108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Explain the comments</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17</a:t>
            </a:fld>
            <a:endParaRPr lang="en-GB"/>
          </a:p>
        </p:txBody>
      </p:sp>
    </p:spTree>
    <p:extLst>
      <p:ext uri="{BB962C8B-B14F-4D97-AF65-F5344CB8AC3E}">
        <p14:creationId xmlns:p14="http://schemas.microsoft.com/office/powerpoint/2010/main" val="3294194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Once code is committed it should be assumed it’s in use. Which means you need to be very bloody careful in removing it. Removing something that you’ve created locally before it’s in use takes far less time than investigating code usage</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18</a:t>
            </a:fld>
            <a:endParaRPr lang="en-GB"/>
          </a:p>
        </p:txBody>
      </p:sp>
    </p:spTree>
    <p:extLst>
      <p:ext uri="{BB962C8B-B14F-4D97-AF65-F5344CB8AC3E}">
        <p14:creationId xmlns:p14="http://schemas.microsoft.com/office/powerpoint/2010/main" val="3360171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Helper classes suck, it immediately says that it is doing too much. You can almost guarantee the unit tests are going to be complex and need 1000s of fakes</a:t>
            </a:r>
          </a:p>
          <a:p>
            <a:endParaRPr lang="en-GB" dirty="0"/>
          </a:p>
          <a:p>
            <a:r>
              <a:rPr lang="en-GB" dirty="0"/>
              <a:t>Watch out for incognito helper classes. They’re normally classes with regions</a:t>
            </a:r>
          </a:p>
        </p:txBody>
      </p:sp>
      <p:sp>
        <p:nvSpPr>
          <p:cNvPr id="4" name="Slide Number Placeholder 3"/>
          <p:cNvSpPr>
            <a:spLocks noGrp="1"/>
          </p:cNvSpPr>
          <p:nvPr>
            <p:ph type="sldNum" sz="quarter" idx="5"/>
          </p:nvPr>
        </p:nvSpPr>
        <p:spPr/>
        <p:txBody>
          <a:bodyPr/>
          <a:lstStyle/>
          <a:p>
            <a:pPr lvl="0"/>
            <a:fld id="{3D378C93-85AC-4796-A339-29599BB9429F}" type="slidenum">
              <a:rPr lang="en-GB" smtClean="0"/>
              <a:t>19</a:t>
            </a:fld>
            <a:endParaRPr lang="en-GB"/>
          </a:p>
        </p:txBody>
      </p:sp>
    </p:spTree>
    <p:extLst>
      <p:ext uri="{BB962C8B-B14F-4D97-AF65-F5344CB8AC3E}">
        <p14:creationId xmlns:p14="http://schemas.microsoft.com/office/powerpoint/2010/main" val="129126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8D932-CBE5-480B-9DFD-E5D7D3E37F8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F7864C3-1281-4CEB-8638-4396912727ED}"/>
              </a:ext>
            </a:extLst>
          </p:cNvPr>
          <p:cNvSpPr txBox="1">
            <a:spLocks noGrp="1"/>
          </p:cNvSpPr>
          <p:nvPr>
            <p:ph type="body" sz="quarter" idx="1"/>
          </p:nvPr>
        </p:nvSpPr>
        <p:spPr/>
        <p:txBody>
          <a:bodyPr/>
          <a:lstStyle/>
          <a:p>
            <a:r>
              <a:rPr lang="en-GB" dirty="0"/>
              <a:t>Just, why? Structuring this function would eliminate at least 1 region, the others could be functions themselves</a:t>
            </a:r>
          </a:p>
        </p:txBody>
      </p:sp>
      <p:sp>
        <p:nvSpPr>
          <p:cNvPr id="4" name="Slide Number Placeholder 3">
            <a:extLst>
              <a:ext uri="{FF2B5EF4-FFF2-40B4-BE49-F238E27FC236}">
                <a16:creationId xmlns:a16="http://schemas.microsoft.com/office/drawing/2014/main" id="{D79B46E4-8272-4A18-8303-A1A5665D7D8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D37C0B6-07C6-4C86-A5B2-642C58A1E921}" type="slidenum">
              <a:t>20</a:t>
            </a:fld>
            <a:endParaRPr lang="en-GB" sz="12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5E86-2D0E-443E-BFF6-A612A504924A}"/>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p>
        </p:txBody>
      </p:sp>
      <p:sp>
        <p:nvSpPr>
          <p:cNvPr id="3" name="Subtitle 2">
            <a:extLst>
              <a:ext uri="{FF2B5EF4-FFF2-40B4-BE49-F238E27FC236}">
                <a16:creationId xmlns:a16="http://schemas.microsoft.com/office/drawing/2014/main" id="{82BF4110-2ECF-4E57-8EAE-EBB17FF24FF2}"/>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EB0F9497-BA51-48FD-B047-2B1A82F4AB45}"/>
              </a:ext>
            </a:extLst>
          </p:cNvPr>
          <p:cNvSpPr txBox="1">
            <a:spLocks noGrp="1"/>
          </p:cNvSpPr>
          <p:nvPr>
            <p:ph type="dt" sz="half" idx="7"/>
          </p:nvPr>
        </p:nvSpPr>
        <p:spPr/>
        <p:txBody>
          <a:bodyPr/>
          <a:lstStyle>
            <a:lvl1pPr>
              <a:defRPr/>
            </a:lvl1pPr>
          </a:lstStyle>
          <a:p>
            <a:pPr lvl="0"/>
            <a:fld id="{B5B8B74E-B38E-4760-92E2-C00950D3772C}" type="datetime1">
              <a:rPr lang="en-GB"/>
              <a:pPr lvl="0"/>
              <a:t>11/03/2020</a:t>
            </a:fld>
            <a:endParaRPr lang="en-GB"/>
          </a:p>
        </p:txBody>
      </p:sp>
      <p:sp>
        <p:nvSpPr>
          <p:cNvPr id="5" name="Footer Placeholder 4">
            <a:extLst>
              <a:ext uri="{FF2B5EF4-FFF2-40B4-BE49-F238E27FC236}">
                <a16:creationId xmlns:a16="http://schemas.microsoft.com/office/drawing/2014/main" id="{FD8DDD57-9F7B-4992-AC2C-6889733CD907}"/>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0D915F7-B21E-49F0-93AE-16962C8FEF59}"/>
              </a:ext>
            </a:extLst>
          </p:cNvPr>
          <p:cNvSpPr txBox="1">
            <a:spLocks noGrp="1"/>
          </p:cNvSpPr>
          <p:nvPr>
            <p:ph type="sldNum" sz="quarter" idx="8"/>
          </p:nvPr>
        </p:nvSpPr>
        <p:spPr/>
        <p:txBody>
          <a:bodyPr/>
          <a:lstStyle>
            <a:lvl1pPr>
              <a:defRPr/>
            </a:lvl1pPr>
          </a:lstStyle>
          <a:p>
            <a:pPr lvl="0"/>
            <a:fld id="{B79C4239-66D9-45FC-8BA4-9660C7215D56}" type="slidenum">
              <a:t>‹#›</a:t>
            </a:fld>
            <a:endParaRPr lang="en-GB"/>
          </a:p>
        </p:txBody>
      </p:sp>
    </p:spTree>
    <p:extLst>
      <p:ext uri="{BB962C8B-B14F-4D97-AF65-F5344CB8AC3E}">
        <p14:creationId xmlns:p14="http://schemas.microsoft.com/office/powerpoint/2010/main" val="265124579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B3FB2-8718-4074-89C9-4F72837C5D41}"/>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EB0CDDCE-1057-403D-AD31-55285B48DBCC}"/>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026D4-FD96-4D95-8FFA-03407A33ED09}"/>
              </a:ext>
            </a:extLst>
          </p:cNvPr>
          <p:cNvSpPr txBox="1">
            <a:spLocks noGrp="1"/>
          </p:cNvSpPr>
          <p:nvPr>
            <p:ph type="dt" sz="half" idx="7"/>
          </p:nvPr>
        </p:nvSpPr>
        <p:spPr/>
        <p:txBody>
          <a:bodyPr/>
          <a:lstStyle>
            <a:lvl1pPr>
              <a:defRPr/>
            </a:lvl1pPr>
          </a:lstStyle>
          <a:p>
            <a:pPr lvl="0"/>
            <a:fld id="{73F971F8-CFB3-49A9-8A98-5E811C688E7F}" type="datetime1">
              <a:rPr lang="en-GB"/>
              <a:pPr lvl="0"/>
              <a:t>11/03/2020</a:t>
            </a:fld>
            <a:endParaRPr lang="en-GB"/>
          </a:p>
        </p:txBody>
      </p:sp>
      <p:sp>
        <p:nvSpPr>
          <p:cNvPr id="5" name="Footer Placeholder 4">
            <a:extLst>
              <a:ext uri="{FF2B5EF4-FFF2-40B4-BE49-F238E27FC236}">
                <a16:creationId xmlns:a16="http://schemas.microsoft.com/office/drawing/2014/main" id="{98489473-D3FF-491D-863C-66DDAEF0A0B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D3F8EAE-5450-4F2A-B34C-FE469A5614F4}"/>
              </a:ext>
            </a:extLst>
          </p:cNvPr>
          <p:cNvSpPr txBox="1">
            <a:spLocks noGrp="1"/>
          </p:cNvSpPr>
          <p:nvPr>
            <p:ph type="sldNum" sz="quarter" idx="8"/>
          </p:nvPr>
        </p:nvSpPr>
        <p:spPr/>
        <p:txBody>
          <a:bodyPr/>
          <a:lstStyle>
            <a:lvl1pPr>
              <a:defRPr/>
            </a:lvl1pPr>
          </a:lstStyle>
          <a:p>
            <a:pPr lvl="0"/>
            <a:fld id="{ECFE958D-BC98-43D4-AFB3-F25BC6D1EB1C}" type="slidenum">
              <a:t>‹#›</a:t>
            </a:fld>
            <a:endParaRPr lang="en-GB"/>
          </a:p>
        </p:txBody>
      </p:sp>
    </p:spTree>
    <p:extLst>
      <p:ext uri="{BB962C8B-B14F-4D97-AF65-F5344CB8AC3E}">
        <p14:creationId xmlns:p14="http://schemas.microsoft.com/office/powerpoint/2010/main" val="28297068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C57A-2964-4C16-8863-4F9D69BFD195}"/>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p>
        </p:txBody>
      </p:sp>
      <p:sp>
        <p:nvSpPr>
          <p:cNvPr id="3" name="Text Placeholder 2">
            <a:extLst>
              <a:ext uri="{FF2B5EF4-FFF2-40B4-BE49-F238E27FC236}">
                <a16:creationId xmlns:a16="http://schemas.microsoft.com/office/drawing/2014/main" id="{416E019B-6000-48A8-96EE-BDAA0B9E55D2}"/>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E5A672DC-8581-49E7-A086-88C0B7E1DA34}"/>
              </a:ext>
            </a:extLst>
          </p:cNvPr>
          <p:cNvSpPr txBox="1">
            <a:spLocks noGrp="1"/>
          </p:cNvSpPr>
          <p:nvPr>
            <p:ph type="dt" sz="half" idx="7"/>
          </p:nvPr>
        </p:nvSpPr>
        <p:spPr/>
        <p:txBody>
          <a:bodyPr/>
          <a:lstStyle>
            <a:lvl1pPr>
              <a:defRPr/>
            </a:lvl1pPr>
          </a:lstStyle>
          <a:p>
            <a:pPr lvl="0"/>
            <a:fld id="{0E01FDE4-124C-42C3-B547-1E51593FC75B}" type="datetime1">
              <a:rPr lang="en-GB"/>
              <a:pPr lvl="0"/>
              <a:t>11/03/2020</a:t>
            </a:fld>
            <a:endParaRPr lang="en-GB"/>
          </a:p>
        </p:txBody>
      </p:sp>
      <p:sp>
        <p:nvSpPr>
          <p:cNvPr id="5" name="Footer Placeholder 4">
            <a:extLst>
              <a:ext uri="{FF2B5EF4-FFF2-40B4-BE49-F238E27FC236}">
                <a16:creationId xmlns:a16="http://schemas.microsoft.com/office/drawing/2014/main" id="{82E7722D-A27E-48FA-AEFD-57759AD3FAE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0F640C87-C295-4F8D-A9AB-FC0DE5F11FF0}"/>
              </a:ext>
            </a:extLst>
          </p:cNvPr>
          <p:cNvSpPr txBox="1">
            <a:spLocks noGrp="1"/>
          </p:cNvSpPr>
          <p:nvPr>
            <p:ph type="sldNum" sz="quarter" idx="8"/>
          </p:nvPr>
        </p:nvSpPr>
        <p:spPr/>
        <p:txBody>
          <a:bodyPr/>
          <a:lstStyle>
            <a:lvl1pPr>
              <a:defRPr/>
            </a:lvl1pPr>
          </a:lstStyle>
          <a:p>
            <a:pPr lvl="0"/>
            <a:fld id="{EA8732B4-4F99-4B76-B37D-F4659402EDF2}" type="slidenum">
              <a:t>‹#›</a:t>
            </a:fld>
            <a:endParaRPr lang="en-GB"/>
          </a:p>
        </p:txBody>
      </p:sp>
    </p:spTree>
    <p:extLst>
      <p:ext uri="{BB962C8B-B14F-4D97-AF65-F5344CB8AC3E}">
        <p14:creationId xmlns:p14="http://schemas.microsoft.com/office/powerpoint/2010/main" val="23977973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CDD12-7990-46F2-8093-634EC057FA9A}"/>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16D3A5D-E457-4D47-AF39-8C146F6943A4}"/>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5777E-692E-433E-B81A-A7225F151ADB}"/>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1739DB-653C-4068-9FA8-17F605391470}"/>
              </a:ext>
            </a:extLst>
          </p:cNvPr>
          <p:cNvSpPr txBox="1">
            <a:spLocks noGrp="1"/>
          </p:cNvSpPr>
          <p:nvPr>
            <p:ph type="dt" sz="half" idx="7"/>
          </p:nvPr>
        </p:nvSpPr>
        <p:spPr/>
        <p:txBody>
          <a:bodyPr/>
          <a:lstStyle>
            <a:lvl1pPr>
              <a:defRPr/>
            </a:lvl1pPr>
          </a:lstStyle>
          <a:p>
            <a:pPr lvl="0"/>
            <a:fld id="{B2F01F41-2556-47B5-A75E-EE969FC9B1BA}" type="datetime1">
              <a:rPr lang="en-GB"/>
              <a:pPr lvl="0"/>
              <a:t>11/03/2020</a:t>
            </a:fld>
            <a:endParaRPr lang="en-GB"/>
          </a:p>
        </p:txBody>
      </p:sp>
      <p:sp>
        <p:nvSpPr>
          <p:cNvPr id="6" name="Footer Placeholder 5">
            <a:extLst>
              <a:ext uri="{FF2B5EF4-FFF2-40B4-BE49-F238E27FC236}">
                <a16:creationId xmlns:a16="http://schemas.microsoft.com/office/drawing/2014/main" id="{484B76F4-A9F6-413C-ACE4-C4AF6C418122}"/>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9EC9AAD-AFC5-4EF1-BA02-B3C0EFF4334F}"/>
              </a:ext>
            </a:extLst>
          </p:cNvPr>
          <p:cNvSpPr txBox="1">
            <a:spLocks noGrp="1"/>
          </p:cNvSpPr>
          <p:nvPr>
            <p:ph type="sldNum" sz="quarter" idx="8"/>
          </p:nvPr>
        </p:nvSpPr>
        <p:spPr/>
        <p:txBody>
          <a:bodyPr/>
          <a:lstStyle>
            <a:lvl1pPr>
              <a:defRPr/>
            </a:lvl1pPr>
          </a:lstStyle>
          <a:p>
            <a:pPr lvl="0"/>
            <a:fld id="{3E142A94-96FB-4393-9E8A-6E4C027C3841}" type="slidenum">
              <a:t>‹#›</a:t>
            </a:fld>
            <a:endParaRPr lang="en-GB"/>
          </a:p>
        </p:txBody>
      </p:sp>
    </p:spTree>
    <p:extLst>
      <p:ext uri="{BB962C8B-B14F-4D97-AF65-F5344CB8AC3E}">
        <p14:creationId xmlns:p14="http://schemas.microsoft.com/office/powerpoint/2010/main" val="410453226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66C8-4D1F-4139-9A7E-3FB41116CBA0}"/>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2AB3880C-2061-41CF-90EF-5E7389FCBE9E}"/>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8681D9AD-B646-45EB-9D1E-8DC16D397CD1}"/>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D7502E-4F9E-4CD9-B397-D3B85D6BF2AC}"/>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6A268166-7CB6-4079-9510-292D1587B349}"/>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E58F2E-16CF-4D3B-A550-87E9CCE4EAFD}"/>
              </a:ext>
            </a:extLst>
          </p:cNvPr>
          <p:cNvSpPr txBox="1">
            <a:spLocks noGrp="1"/>
          </p:cNvSpPr>
          <p:nvPr>
            <p:ph type="dt" sz="half" idx="7"/>
          </p:nvPr>
        </p:nvSpPr>
        <p:spPr/>
        <p:txBody>
          <a:bodyPr/>
          <a:lstStyle>
            <a:lvl1pPr>
              <a:defRPr/>
            </a:lvl1pPr>
          </a:lstStyle>
          <a:p>
            <a:pPr lvl="0"/>
            <a:fld id="{5115ED7F-C24F-4A5D-A278-3950E0F511EA}" type="datetime1">
              <a:rPr lang="en-GB"/>
              <a:pPr lvl="0"/>
              <a:t>11/03/2020</a:t>
            </a:fld>
            <a:endParaRPr lang="en-GB"/>
          </a:p>
        </p:txBody>
      </p:sp>
      <p:sp>
        <p:nvSpPr>
          <p:cNvPr id="8" name="Footer Placeholder 7">
            <a:extLst>
              <a:ext uri="{FF2B5EF4-FFF2-40B4-BE49-F238E27FC236}">
                <a16:creationId xmlns:a16="http://schemas.microsoft.com/office/drawing/2014/main" id="{B74ACABA-9D2F-4ECC-8094-7F88F7D768CE}"/>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007229B1-BFE9-4A52-8482-E2CF036BA91C}"/>
              </a:ext>
            </a:extLst>
          </p:cNvPr>
          <p:cNvSpPr txBox="1">
            <a:spLocks noGrp="1"/>
          </p:cNvSpPr>
          <p:nvPr>
            <p:ph type="sldNum" sz="quarter" idx="8"/>
          </p:nvPr>
        </p:nvSpPr>
        <p:spPr/>
        <p:txBody>
          <a:bodyPr/>
          <a:lstStyle>
            <a:lvl1pPr>
              <a:defRPr/>
            </a:lvl1pPr>
          </a:lstStyle>
          <a:p>
            <a:pPr lvl="0"/>
            <a:fld id="{9B4FF038-92C0-472E-BA23-BBD0BC71F955}" type="slidenum">
              <a:t>‹#›</a:t>
            </a:fld>
            <a:endParaRPr lang="en-GB"/>
          </a:p>
        </p:txBody>
      </p:sp>
    </p:spTree>
    <p:extLst>
      <p:ext uri="{BB962C8B-B14F-4D97-AF65-F5344CB8AC3E}">
        <p14:creationId xmlns:p14="http://schemas.microsoft.com/office/powerpoint/2010/main" val="1091345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6EC9-5BD8-4150-B9AE-575FF3243CF5}"/>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9D5B77EB-92BD-4B01-BC67-74E320E9F72F}"/>
              </a:ext>
            </a:extLst>
          </p:cNvPr>
          <p:cNvSpPr txBox="1">
            <a:spLocks noGrp="1"/>
          </p:cNvSpPr>
          <p:nvPr>
            <p:ph type="dt" sz="half" idx="7"/>
          </p:nvPr>
        </p:nvSpPr>
        <p:spPr/>
        <p:txBody>
          <a:bodyPr/>
          <a:lstStyle>
            <a:lvl1pPr>
              <a:defRPr/>
            </a:lvl1pPr>
          </a:lstStyle>
          <a:p>
            <a:pPr lvl="0"/>
            <a:fld id="{5035D4A8-CC96-4817-8BB1-F32DB32AA839}" type="datetime1">
              <a:rPr lang="en-GB"/>
              <a:pPr lvl="0"/>
              <a:t>11/03/2020</a:t>
            </a:fld>
            <a:endParaRPr lang="en-GB"/>
          </a:p>
        </p:txBody>
      </p:sp>
      <p:sp>
        <p:nvSpPr>
          <p:cNvPr id="4" name="Footer Placeholder 3">
            <a:extLst>
              <a:ext uri="{FF2B5EF4-FFF2-40B4-BE49-F238E27FC236}">
                <a16:creationId xmlns:a16="http://schemas.microsoft.com/office/drawing/2014/main" id="{C19972D8-0A1C-4008-B997-48234BC5579B}"/>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B78CC007-E780-4A2E-AF91-E083F2152CA3}"/>
              </a:ext>
            </a:extLst>
          </p:cNvPr>
          <p:cNvSpPr txBox="1">
            <a:spLocks noGrp="1"/>
          </p:cNvSpPr>
          <p:nvPr>
            <p:ph type="sldNum" sz="quarter" idx="8"/>
          </p:nvPr>
        </p:nvSpPr>
        <p:spPr/>
        <p:txBody>
          <a:bodyPr/>
          <a:lstStyle>
            <a:lvl1pPr>
              <a:defRPr/>
            </a:lvl1pPr>
          </a:lstStyle>
          <a:p>
            <a:pPr lvl="0"/>
            <a:fld id="{907E804E-2A78-4166-B0A0-C7858BDE3FFF}" type="slidenum">
              <a:t>‹#›</a:t>
            </a:fld>
            <a:endParaRPr lang="en-GB"/>
          </a:p>
        </p:txBody>
      </p:sp>
    </p:spTree>
    <p:extLst>
      <p:ext uri="{BB962C8B-B14F-4D97-AF65-F5344CB8AC3E}">
        <p14:creationId xmlns:p14="http://schemas.microsoft.com/office/powerpoint/2010/main" val="41601032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9DCD5-54AA-48E4-A568-0637A00733B5}"/>
              </a:ext>
            </a:extLst>
          </p:cNvPr>
          <p:cNvSpPr txBox="1">
            <a:spLocks noGrp="1"/>
          </p:cNvSpPr>
          <p:nvPr>
            <p:ph type="dt" sz="half" idx="7"/>
          </p:nvPr>
        </p:nvSpPr>
        <p:spPr/>
        <p:txBody>
          <a:bodyPr/>
          <a:lstStyle>
            <a:lvl1pPr>
              <a:defRPr/>
            </a:lvl1pPr>
          </a:lstStyle>
          <a:p>
            <a:pPr lvl="0"/>
            <a:fld id="{7D721DAE-9DDE-436F-98E8-01EABA0CF65E}" type="datetime1">
              <a:rPr lang="en-GB"/>
              <a:pPr lvl="0"/>
              <a:t>11/03/2020</a:t>
            </a:fld>
            <a:endParaRPr lang="en-GB"/>
          </a:p>
        </p:txBody>
      </p:sp>
      <p:sp>
        <p:nvSpPr>
          <p:cNvPr id="3" name="Footer Placeholder 2">
            <a:extLst>
              <a:ext uri="{FF2B5EF4-FFF2-40B4-BE49-F238E27FC236}">
                <a16:creationId xmlns:a16="http://schemas.microsoft.com/office/drawing/2014/main" id="{8CBB9E20-AA08-47A3-91B0-A984C08979C1}"/>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EE5F63E5-0195-4C66-8E8E-8727A2E293CE}"/>
              </a:ext>
            </a:extLst>
          </p:cNvPr>
          <p:cNvSpPr txBox="1">
            <a:spLocks noGrp="1"/>
          </p:cNvSpPr>
          <p:nvPr>
            <p:ph type="sldNum" sz="quarter" idx="8"/>
          </p:nvPr>
        </p:nvSpPr>
        <p:spPr/>
        <p:txBody>
          <a:bodyPr/>
          <a:lstStyle>
            <a:lvl1pPr>
              <a:defRPr/>
            </a:lvl1pPr>
          </a:lstStyle>
          <a:p>
            <a:pPr lvl="0"/>
            <a:fld id="{A34B87C5-F8AD-42A2-B3A1-40B8415742CA}" type="slidenum">
              <a:t>‹#›</a:t>
            </a:fld>
            <a:endParaRPr lang="en-GB"/>
          </a:p>
        </p:txBody>
      </p:sp>
    </p:spTree>
    <p:extLst>
      <p:ext uri="{BB962C8B-B14F-4D97-AF65-F5344CB8AC3E}">
        <p14:creationId xmlns:p14="http://schemas.microsoft.com/office/powerpoint/2010/main" val="268284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8E99F-FBD3-4317-8B6A-633E305D3C4A}"/>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Content Placeholder 2">
            <a:extLst>
              <a:ext uri="{FF2B5EF4-FFF2-40B4-BE49-F238E27FC236}">
                <a16:creationId xmlns:a16="http://schemas.microsoft.com/office/drawing/2014/main" id="{0FE58D07-A3C8-4F4B-AC6C-41B496B9C158}"/>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650010-6100-494B-8588-ABF5EE80352C}"/>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A5E9C04B-4D5B-4D43-9EE1-DE2F8A6E4CC2}"/>
              </a:ext>
            </a:extLst>
          </p:cNvPr>
          <p:cNvSpPr txBox="1">
            <a:spLocks noGrp="1"/>
          </p:cNvSpPr>
          <p:nvPr>
            <p:ph type="dt" sz="half" idx="7"/>
          </p:nvPr>
        </p:nvSpPr>
        <p:spPr/>
        <p:txBody>
          <a:bodyPr/>
          <a:lstStyle>
            <a:lvl1pPr>
              <a:defRPr/>
            </a:lvl1pPr>
          </a:lstStyle>
          <a:p>
            <a:pPr lvl="0"/>
            <a:fld id="{E684E0FF-6413-435A-B582-3D234899D09A}" type="datetime1">
              <a:rPr lang="en-GB"/>
              <a:pPr lvl="0"/>
              <a:t>11/03/2020</a:t>
            </a:fld>
            <a:endParaRPr lang="en-GB"/>
          </a:p>
        </p:txBody>
      </p:sp>
      <p:sp>
        <p:nvSpPr>
          <p:cNvPr id="6" name="Footer Placeholder 5">
            <a:extLst>
              <a:ext uri="{FF2B5EF4-FFF2-40B4-BE49-F238E27FC236}">
                <a16:creationId xmlns:a16="http://schemas.microsoft.com/office/drawing/2014/main" id="{CA9C7148-A590-4232-8E54-AB2C31D11C5B}"/>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0B504E88-3F61-4961-993D-52DDBC7632B4}"/>
              </a:ext>
            </a:extLst>
          </p:cNvPr>
          <p:cNvSpPr txBox="1">
            <a:spLocks noGrp="1"/>
          </p:cNvSpPr>
          <p:nvPr>
            <p:ph type="sldNum" sz="quarter" idx="8"/>
          </p:nvPr>
        </p:nvSpPr>
        <p:spPr/>
        <p:txBody>
          <a:bodyPr/>
          <a:lstStyle>
            <a:lvl1pPr>
              <a:defRPr/>
            </a:lvl1pPr>
          </a:lstStyle>
          <a:p>
            <a:pPr lvl="0"/>
            <a:fld id="{3465E56F-5F86-4339-90E6-89475346328F}" type="slidenum">
              <a:t>‹#›</a:t>
            </a:fld>
            <a:endParaRPr lang="en-GB"/>
          </a:p>
        </p:txBody>
      </p:sp>
    </p:spTree>
    <p:extLst>
      <p:ext uri="{BB962C8B-B14F-4D97-AF65-F5344CB8AC3E}">
        <p14:creationId xmlns:p14="http://schemas.microsoft.com/office/powerpoint/2010/main" val="300322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DBE9-23BC-4B0D-851E-8C72611230D6}"/>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Picture Placeholder 2">
            <a:extLst>
              <a:ext uri="{FF2B5EF4-FFF2-40B4-BE49-F238E27FC236}">
                <a16:creationId xmlns:a16="http://schemas.microsoft.com/office/drawing/2014/main" id="{C669DB87-75E6-40C8-8539-86D4A9823123}"/>
              </a:ext>
            </a:extLst>
          </p:cNvPr>
          <p:cNvSpPr txBox="1">
            <a:spLocks noGrp="1"/>
          </p:cNvSpPr>
          <p:nvPr>
            <p:ph type="pic" idx="1"/>
          </p:nvPr>
        </p:nvSpPr>
        <p:spPr>
          <a:xfrm>
            <a:off x="5183184" y="987423"/>
            <a:ext cx="6172200" cy="4873623"/>
          </a:xfrm>
        </p:spPr>
        <p:txBody>
          <a:bodyPr/>
          <a:lstStyle>
            <a:lvl1pPr marL="0" indent="0">
              <a:buNone/>
              <a:defRPr sz="3200"/>
            </a:lvl1pPr>
          </a:lstStyle>
          <a:p>
            <a:pPr lvl="0"/>
            <a:r>
              <a:rPr lang="en-US"/>
              <a:t>Click icon to add picture</a:t>
            </a:r>
          </a:p>
        </p:txBody>
      </p:sp>
      <p:sp>
        <p:nvSpPr>
          <p:cNvPr id="4" name="Text Placeholder 3">
            <a:extLst>
              <a:ext uri="{FF2B5EF4-FFF2-40B4-BE49-F238E27FC236}">
                <a16:creationId xmlns:a16="http://schemas.microsoft.com/office/drawing/2014/main" id="{5FE3ADB0-E509-4BE0-9095-B23DB8649ED3}"/>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0CE2869-3DE3-4E8D-8E2E-B0A615290790}"/>
              </a:ext>
            </a:extLst>
          </p:cNvPr>
          <p:cNvSpPr txBox="1">
            <a:spLocks noGrp="1"/>
          </p:cNvSpPr>
          <p:nvPr>
            <p:ph type="dt" sz="half" idx="7"/>
          </p:nvPr>
        </p:nvSpPr>
        <p:spPr/>
        <p:txBody>
          <a:bodyPr/>
          <a:lstStyle>
            <a:lvl1pPr>
              <a:defRPr/>
            </a:lvl1pPr>
          </a:lstStyle>
          <a:p>
            <a:pPr lvl="0"/>
            <a:fld id="{E89DCEC8-CEE0-422B-A70A-1239654F568C}" type="datetime1">
              <a:rPr lang="en-GB"/>
              <a:pPr lvl="0"/>
              <a:t>11/03/2020</a:t>
            </a:fld>
            <a:endParaRPr lang="en-GB"/>
          </a:p>
        </p:txBody>
      </p:sp>
      <p:sp>
        <p:nvSpPr>
          <p:cNvPr id="6" name="Footer Placeholder 5">
            <a:extLst>
              <a:ext uri="{FF2B5EF4-FFF2-40B4-BE49-F238E27FC236}">
                <a16:creationId xmlns:a16="http://schemas.microsoft.com/office/drawing/2014/main" id="{D93492CF-98B0-4E63-B598-7330B8527613}"/>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1CFB0F11-8150-4136-964B-FC85A13BA320}"/>
              </a:ext>
            </a:extLst>
          </p:cNvPr>
          <p:cNvSpPr txBox="1">
            <a:spLocks noGrp="1"/>
          </p:cNvSpPr>
          <p:nvPr>
            <p:ph type="sldNum" sz="quarter" idx="8"/>
          </p:nvPr>
        </p:nvSpPr>
        <p:spPr/>
        <p:txBody>
          <a:bodyPr/>
          <a:lstStyle>
            <a:lvl1pPr>
              <a:defRPr/>
            </a:lvl1pPr>
          </a:lstStyle>
          <a:p>
            <a:pPr lvl="0"/>
            <a:fld id="{DE90BC44-3B83-46DB-A96A-6EB2DF8F8BFB}" type="slidenum">
              <a:t>‹#›</a:t>
            </a:fld>
            <a:endParaRPr lang="en-GB"/>
          </a:p>
        </p:txBody>
      </p:sp>
    </p:spTree>
    <p:extLst>
      <p:ext uri="{BB962C8B-B14F-4D97-AF65-F5344CB8AC3E}">
        <p14:creationId xmlns:p14="http://schemas.microsoft.com/office/powerpoint/2010/main" val="52240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2C41-DE85-4098-863D-6A7FD31AB597}"/>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8197ABD6-4CC5-4CEF-A35F-D8DF9D20CC47}"/>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E002D-EB17-40E2-9C5F-CB43D25D993B}"/>
              </a:ext>
            </a:extLst>
          </p:cNvPr>
          <p:cNvSpPr txBox="1">
            <a:spLocks noGrp="1"/>
          </p:cNvSpPr>
          <p:nvPr>
            <p:ph type="dt" sz="half" idx="7"/>
          </p:nvPr>
        </p:nvSpPr>
        <p:spPr/>
        <p:txBody>
          <a:bodyPr/>
          <a:lstStyle>
            <a:lvl1pPr>
              <a:defRPr/>
            </a:lvl1pPr>
          </a:lstStyle>
          <a:p>
            <a:pPr lvl="0"/>
            <a:fld id="{3A282998-C233-4755-B2BB-E428269E9D4A}" type="datetime1">
              <a:rPr lang="en-GB"/>
              <a:pPr lvl="0"/>
              <a:t>11/03/2020</a:t>
            </a:fld>
            <a:endParaRPr lang="en-GB"/>
          </a:p>
        </p:txBody>
      </p:sp>
      <p:sp>
        <p:nvSpPr>
          <p:cNvPr id="5" name="Footer Placeholder 4">
            <a:extLst>
              <a:ext uri="{FF2B5EF4-FFF2-40B4-BE49-F238E27FC236}">
                <a16:creationId xmlns:a16="http://schemas.microsoft.com/office/drawing/2014/main" id="{1EE4F263-A4BA-41DD-9BAD-DBAA298A7C9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776B555-6952-44DF-9C15-F3EF1C885EFE}"/>
              </a:ext>
            </a:extLst>
          </p:cNvPr>
          <p:cNvSpPr txBox="1">
            <a:spLocks noGrp="1"/>
          </p:cNvSpPr>
          <p:nvPr>
            <p:ph type="sldNum" sz="quarter" idx="8"/>
          </p:nvPr>
        </p:nvSpPr>
        <p:spPr/>
        <p:txBody>
          <a:bodyPr/>
          <a:lstStyle>
            <a:lvl1pPr>
              <a:defRPr/>
            </a:lvl1pPr>
          </a:lstStyle>
          <a:p>
            <a:pPr lvl="0"/>
            <a:fld id="{565E56FD-DC3D-46EE-AC8C-8F216022B037}" type="slidenum">
              <a:t>‹#›</a:t>
            </a:fld>
            <a:endParaRPr lang="en-GB"/>
          </a:p>
        </p:txBody>
      </p:sp>
    </p:spTree>
    <p:extLst>
      <p:ext uri="{BB962C8B-B14F-4D97-AF65-F5344CB8AC3E}">
        <p14:creationId xmlns:p14="http://schemas.microsoft.com/office/powerpoint/2010/main" val="3399294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DCD331-8FF8-471F-8A01-0556C561592E}"/>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C02CDCF0-0980-48D7-B74A-3C5D981EAF60}"/>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94CF6-9446-496A-B871-FB6A53BFBA58}"/>
              </a:ext>
            </a:extLst>
          </p:cNvPr>
          <p:cNvSpPr txBox="1">
            <a:spLocks noGrp="1"/>
          </p:cNvSpPr>
          <p:nvPr>
            <p:ph type="dt" sz="half" idx="7"/>
          </p:nvPr>
        </p:nvSpPr>
        <p:spPr/>
        <p:txBody>
          <a:bodyPr/>
          <a:lstStyle>
            <a:lvl1pPr>
              <a:defRPr/>
            </a:lvl1pPr>
          </a:lstStyle>
          <a:p>
            <a:pPr lvl="0"/>
            <a:fld id="{499EA727-FFCB-4C95-A734-63ADDC51CEDE}" type="datetime1">
              <a:rPr lang="en-GB"/>
              <a:pPr lvl="0"/>
              <a:t>11/03/2020</a:t>
            </a:fld>
            <a:endParaRPr lang="en-GB"/>
          </a:p>
        </p:txBody>
      </p:sp>
      <p:sp>
        <p:nvSpPr>
          <p:cNvPr id="5" name="Footer Placeholder 4">
            <a:extLst>
              <a:ext uri="{FF2B5EF4-FFF2-40B4-BE49-F238E27FC236}">
                <a16:creationId xmlns:a16="http://schemas.microsoft.com/office/drawing/2014/main" id="{1B84D3A1-4D96-449D-A16C-D708C6D017E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67339AB9-7458-43B8-98F3-7BF46B73593E}"/>
              </a:ext>
            </a:extLst>
          </p:cNvPr>
          <p:cNvSpPr txBox="1">
            <a:spLocks noGrp="1"/>
          </p:cNvSpPr>
          <p:nvPr>
            <p:ph type="sldNum" sz="quarter" idx="8"/>
          </p:nvPr>
        </p:nvSpPr>
        <p:spPr/>
        <p:txBody>
          <a:bodyPr/>
          <a:lstStyle>
            <a:lvl1pPr>
              <a:defRPr/>
            </a:lvl1pPr>
          </a:lstStyle>
          <a:p>
            <a:pPr lvl="0"/>
            <a:fld id="{C4C92606-4435-4662-A1C9-1CCDD02B747E}" type="slidenum">
              <a:t>‹#›</a:t>
            </a:fld>
            <a:endParaRPr lang="en-GB"/>
          </a:p>
        </p:txBody>
      </p:sp>
    </p:spTree>
    <p:extLst>
      <p:ext uri="{BB962C8B-B14F-4D97-AF65-F5344CB8AC3E}">
        <p14:creationId xmlns:p14="http://schemas.microsoft.com/office/powerpoint/2010/main" val="1839519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9313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CC11C-B95E-4287-9DF0-29C8156406CC}"/>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4DF996D-58D3-46B4-822E-77FEC1B5B03B}"/>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5930D-B305-4318-8943-82B3D01827DA}"/>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DD0242FB-9E55-42CC-8A45-1D80F9BF6F71}" type="datetime1">
              <a:rPr lang="en-GB"/>
              <a:pPr lvl="0"/>
              <a:t>11/03/2020</a:t>
            </a:fld>
            <a:endParaRPr lang="en-GB"/>
          </a:p>
        </p:txBody>
      </p:sp>
      <p:sp>
        <p:nvSpPr>
          <p:cNvPr id="5" name="Footer Placeholder 4">
            <a:extLst>
              <a:ext uri="{FF2B5EF4-FFF2-40B4-BE49-F238E27FC236}">
                <a16:creationId xmlns:a16="http://schemas.microsoft.com/office/drawing/2014/main" id="{BE0A97D5-0788-4C64-A7D8-6E30EFE1C58F}"/>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4572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FE3A14E2-EEBF-4CE7-8E54-A650AAF1CEF9}"/>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66BAA773-6375-4C89-A332-9DAFA80976D2}"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scott.tippett@bt.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6F87F-1BF8-453C-B041-79644A625255}"/>
              </a:ext>
            </a:extLst>
          </p:cNvPr>
          <p:cNvSpPr txBox="1">
            <a:spLocks noGrp="1"/>
          </p:cNvSpPr>
          <p:nvPr>
            <p:ph type="ctrTitle"/>
          </p:nvPr>
        </p:nvSpPr>
        <p:spPr/>
        <p:txBody>
          <a:bodyPr/>
          <a:lstStyle/>
          <a:p>
            <a:pPr lvl="0"/>
            <a:r>
              <a:rPr lang="en-GB">
                <a:solidFill>
                  <a:srgbClr val="D9D9D9"/>
                </a:solidFill>
              </a:rPr>
              <a:t>An introduction to writing code for humans </a:t>
            </a:r>
          </a:p>
        </p:txBody>
      </p:sp>
      <p:sp>
        <p:nvSpPr>
          <p:cNvPr id="3" name="Subtitle 2">
            <a:extLst>
              <a:ext uri="{FF2B5EF4-FFF2-40B4-BE49-F238E27FC236}">
                <a16:creationId xmlns:a16="http://schemas.microsoft.com/office/drawing/2014/main" id="{79476B1F-B60B-4260-BCDF-28F1813EB53C}"/>
              </a:ext>
            </a:extLst>
          </p:cNvPr>
          <p:cNvSpPr txBox="1">
            <a:spLocks noGrp="1"/>
          </p:cNvSpPr>
          <p:nvPr>
            <p:ph type="subTitle" idx="1"/>
          </p:nvPr>
        </p:nvSpPr>
        <p:spPr/>
        <p:txBody>
          <a:bodyPr/>
          <a:lstStyle/>
          <a:p>
            <a:pPr lvl="0"/>
            <a:r>
              <a:rPr lang="en-GB">
                <a:solidFill>
                  <a:srgbClr val="D9D9D9"/>
                </a:solidFill>
              </a:rPr>
              <a:t>A clean code primer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EC343-8F1B-4587-9FA5-C636B5D9B6C4}"/>
              </a:ext>
            </a:extLst>
          </p:cNvPr>
          <p:cNvSpPr txBox="1">
            <a:spLocks noGrp="1"/>
          </p:cNvSpPr>
          <p:nvPr>
            <p:ph type="title"/>
          </p:nvPr>
        </p:nvSpPr>
        <p:spPr/>
        <p:txBody>
          <a:bodyPr/>
          <a:lstStyle/>
          <a:p>
            <a:pPr lvl="0"/>
            <a:r>
              <a:rPr lang="en-GB">
                <a:solidFill>
                  <a:srgbClr val="D9D9D9"/>
                </a:solidFill>
              </a:rPr>
              <a:t>Introduction</a:t>
            </a:r>
          </a:p>
        </p:txBody>
      </p:sp>
      <p:sp>
        <p:nvSpPr>
          <p:cNvPr id="3" name="Content Placeholder 2">
            <a:extLst>
              <a:ext uri="{FF2B5EF4-FFF2-40B4-BE49-F238E27FC236}">
                <a16:creationId xmlns:a16="http://schemas.microsoft.com/office/drawing/2014/main" id="{308230FA-51A4-45E2-959F-69E55D18AA3E}"/>
              </a:ext>
            </a:extLst>
          </p:cNvPr>
          <p:cNvSpPr txBox="1">
            <a:spLocks noGrp="1"/>
          </p:cNvSpPr>
          <p:nvPr>
            <p:ph idx="1"/>
          </p:nvPr>
        </p:nvSpPr>
        <p:spPr/>
        <p:txBody>
          <a:bodyPr/>
          <a:lstStyle/>
          <a:p>
            <a:pPr lvl="0"/>
            <a:r>
              <a:rPr lang="en-GB">
                <a:solidFill>
                  <a:srgbClr val="D9D9D9"/>
                </a:solidFill>
              </a:rPr>
              <a:t>Email: </a:t>
            </a:r>
            <a:r>
              <a:rPr lang="en-GB">
                <a:hlinkClick r:id="rId3"/>
              </a:rPr>
              <a:t>scott.tippett@bt.com</a:t>
            </a:r>
            <a:endParaRPr lang="en-GB"/>
          </a:p>
          <a:p>
            <a:pPr lvl="0"/>
            <a:r>
              <a:rPr lang="en-GB">
                <a:solidFill>
                  <a:srgbClr val="D9D9D9"/>
                </a:solidFill>
              </a:rPr>
              <a:t>Currently working in “Directories” </a:t>
            </a:r>
          </a:p>
          <a:p>
            <a:pPr lvl="0"/>
            <a:r>
              <a:rPr lang="en-GB">
                <a:solidFill>
                  <a:srgbClr val="D9D9D9"/>
                </a:solidFill>
              </a:rPr>
              <a:t>Always have time to discuss clean code and agile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B3DE03-F2C6-4574-923D-A18F5B086DDD}"/>
              </a:ext>
            </a:extLst>
          </p:cNvPr>
          <p:cNvSpPr txBox="1">
            <a:spLocks noGrp="1"/>
          </p:cNvSpPr>
          <p:nvPr>
            <p:ph type="title"/>
          </p:nvPr>
        </p:nvSpPr>
        <p:spPr>
          <a:xfrm>
            <a:off x="842775" y="288548"/>
            <a:ext cx="10506456" cy="1197864"/>
          </a:xfrm>
        </p:spPr>
        <p:txBody>
          <a:bodyPr anchor="b" anchorCtr="1"/>
          <a:lstStyle/>
          <a:p>
            <a:pPr lvl="0" algn="ctr"/>
            <a:r>
              <a:rPr lang="en-US" sz="5400">
                <a:solidFill>
                  <a:srgbClr val="D9D9D9"/>
                </a:solidFill>
              </a:rPr>
              <a:t>Think about it</a:t>
            </a:r>
          </a:p>
        </p:txBody>
      </p:sp>
      <p:pic>
        <p:nvPicPr>
          <p:cNvPr id="3" name="Picture 6">
            <a:extLst>
              <a:ext uri="{FF2B5EF4-FFF2-40B4-BE49-F238E27FC236}">
                <a16:creationId xmlns:a16="http://schemas.microsoft.com/office/drawing/2014/main" id="{1986AE61-5099-44C0-B72B-EAEAC2C26DFD}"/>
              </a:ext>
            </a:extLst>
          </p:cNvPr>
          <p:cNvPicPr>
            <a:picLocks noChangeAspect="1"/>
          </p:cNvPicPr>
          <p:nvPr/>
        </p:nvPicPr>
        <p:blipFill>
          <a:blip r:embed="rId3"/>
          <a:stretch>
            <a:fillRect/>
          </a:stretch>
        </p:blipFill>
        <p:spPr>
          <a:xfrm>
            <a:off x="1102501" y="2264228"/>
            <a:ext cx="4008555" cy="4008555"/>
          </a:xfrm>
          <a:prstGeom prst="rect">
            <a:avLst/>
          </a:prstGeom>
          <a:noFill/>
          <a:ln cap="flat">
            <a:noFill/>
          </a:ln>
        </p:spPr>
      </p:pic>
      <p:pic>
        <p:nvPicPr>
          <p:cNvPr id="4" name="Picture 2">
            <a:extLst>
              <a:ext uri="{FF2B5EF4-FFF2-40B4-BE49-F238E27FC236}">
                <a16:creationId xmlns:a16="http://schemas.microsoft.com/office/drawing/2014/main" id="{CCC2B271-5784-46A3-A6BA-6D27FBC0BCBA}"/>
              </a:ext>
            </a:extLst>
          </p:cNvPr>
          <p:cNvPicPr>
            <a:picLocks noChangeAspect="1"/>
          </p:cNvPicPr>
          <p:nvPr/>
        </p:nvPicPr>
        <p:blipFill>
          <a:blip r:embed="rId4"/>
          <a:stretch>
            <a:fillRect/>
          </a:stretch>
        </p:blipFill>
        <p:spPr>
          <a:xfrm>
            <a:off x="6244620" y="2670660"/>
            <a:ext cx="5681222" cy="3195681"/>
          </a:xfrm>
          <a:prstGeom prst="rect">
            <a:avLst/>
          </a:prstGeom>
          <a:noFill/>
          <a:ln cap="flat">
            <a:noFill/>
          </a:ln>
        </p:spPr>
      </p:pic>
      <p:sp>
        <p:nvSpPr>
          <p:cNvPr id="5" name="TextBox 5">
            <a:extLst>
              <a:ext uri="{FF2B5EF4-FFF2-40B4-BE49-F238E27FC236}">
                <a16:creationId xmlns:a16="http://schemas.microsoft.com/office/drawing/2014/main" id="{29573E17-432C-4D95-9E20-FBF421C94A04}"/>
              </a:ext>
            </a:extLst>
          </p:cNvPr>
          <p:cNvSpPr txBox="1"/>
          <p:nvPr/>
        </p:nvSpPr>
        <p:spPr>
          <a:xfrm>
            <a:off x="2299222" y="2967337"/>
            <a:ext cx="7593561" cy="923333"/>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5400" b="0" i="0" u="none" strike="noStrike" kern="1200" cap="none" spc="0" baseline="0">
                <a:solidFill>
                  <a:srgbClr val="D9D9D9"/>
                </a:solidFill>
                <a:uFillTx/>
                <a:latin typeface="Calibri"/>
              </a:rPr>
              <a:t>All code is technical debt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grpId="2"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5" grpId="2"/>
    </p:bldLst>
  </p:timing>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A4671-D2C6-404D-9047-296E60EEAC92}"/>
              </a:ext>
            </a:extLst>
          </p:cNvPr>
          <p:cNvSpPr txBox="1">
            <a:spLocks noGrp="1"/>
          </p:cNvSpPr>
          <p:nvPr>
            <p:ph type="title"/>
          </p:nvPr>
        </p:nvSpPr>
        <p:spPr/>
        <p:txBody>
          <a:bodyPr/>
          <a:lstStyle/>
          <a:p>
            <a:pPr lvl="0"/>
            <a:r>
              <a:rPr lang="en-GB">
                <a:solidFill>
                  <a:srgbClr val="D9D9D9"/>
                </a:solidFill>
              </a:rPr>
              <a:t>Why write cleaner code?</a:t>
            </a:r>
          </a:p>
        </p:txBody>
      </p:sp>
      <p:sp>
        <p:nvSpPr>
          <p:cNvPr id="3" name="Content Placeholder 2">
            <a:extLst>
              <a:ext uri="{FF2B5EF4-FFF2-40B4-BE49-F238E27FC236}">
                <a16:creationId xmlns:a16="http://schemas.microsoft.com/office/drawing/2014/main" id="{6D5D7A98-BF42-48A8-9535-F640D08BF353}"/>
              </a:ext>
            </a:extLst>
          </p:cNvPr>
          <p:cNvSpPr txBox="1">
            <a:spLocks noGrp="1"/>
          </p:cNvSpPr>
          <p:nvPr>
            <p:ph idx="1"/>
          </p:nvPr>
        </p:nvSpPr>
        <p:spPr/>
        <p:txBody>
          <a:bodyPr/>
          <a:lstStyle/>
          <a:p>
            <a:r>
              <a:rPr lang="en-GB" dirty="0">
                <a:solidFill>
                  <a:schemeClr val="bg1">
                    <a:lumMod val="85000"/>
                  </a:schemeClr>
                </a:solidFill>
              </a:rPr>
              <a:t>It’s simple, really</a:t>
            </a:r>
          </a:p>
          <a:p>
            <a:r>
              <a:rPr lang="en-GB" dirty="0">
                <a:solidFill>
                  <a:schemeClr val="bg1">
                    <a:lumMod val="85000"/>
                  </a:schemeClr>
                </a:solidFill>
              </a:rPr>
              <a:t>Reduce time spent understanding</a:t>
            </a:r>
          </a:p>
          <a:p>
            <a:r>
              <a:rPr lang="en-GB" dirty="0">
                <a:solidFill>
                  <a:schemeClr val="bg1">
                    <a:lumMod val="85000"/>
                  </a:schemeClr>
                </a:solidFill>
              </a:rPr>
              <a:t>Minimise complexity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A37E6-FEA0-42BC-9AAB-5AE8B6D0915D}"/>
              </a:ext>
            </a:extLst>
          </p:cNvPr>
          <p:cNvSpPr txBox="1">
            <a:spLocks noGrp="1"/>
          </p:cNvSpPr>
          <p:nvPr>
            <p:ph type="title"/>
          </p:nvPr>
        </p:nvSpPr>
        <p:spPr>
          <a:xfrm>
            <a:off x="651308" y="640080"/>
            <a:ext cx="3377180" cy="3681977"/>
          </a:xfrm>
        </p:spPr>
        <p:txBody>
          <a:bodyPr anchor="b"/>
          <a:lstStyle/>
          <a:p>
            <a:pPr lvl="0"/>
            <a:r>
              <a:rPr lang="en-US">
                <a:solidFill>
                  <a:srgbClr val="BFBFBF"/>
                </a:solidFill>
              </a:rPr>
              <a:t>What does this do?</a:t>
            </a:r>
          </a:p>
        </p:txBody>
      </p:sp>
      <p:pic>
        <p:nvPicPr>
          <p:cNvPr id="3" name="Content Placeholder 3" descr="A close up of a screen&#10;&#10;Description automatically generated">
            <a:extLst>
              <a:ext uri="{FF2B5EF4-FFF2-40B4-BE49-F238E27FC236}">
                <a16:creationId xmlns:a16="http://schemas.microsoft.com/office/drawing/2014/main" id="{8A6484F3-E5F7-4671-B048-C98CCAADF98E}"/>
              </a:ext>
            </a:extLst>
          </p:cNvPr>
          <p:cNvPicPr>
            <a:picLocks noGrp="1" noChangeAspect="1"/>
          </p:cNvPicPr>
          <p:nvPr>
            <p:ph idx="1"/>
          </p:nvPr>
        </p:nvPicPr>
        <p:blipFill>
          <a:blip r:embed="rId3"/>
          <a:srcRect r="2415" b="-2"/>
          <a:stretch>
            <a:fillRect/>
          </a:stretch>
        </p:blipFill>
        <p:spPr>
          <a:xfrm>
            <a:off x="4654296" y="9"/>
            <a:ext cx="7537700" cy="685799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AE221-B727-45ED-9C6E-C90214D32F4E}"/>
              </a:ext>
            </a:extLst>
          </p:cNvPr>
          <p:cNvSpPr txBox="1">
            <a:spLocks noGrp="1"/>
          </p:cNvSpPr>
          <p:nvPr>
            <p:ph type="title"/>
          </p:nvPr>
        </p:nvSpPr>
        <p:spPr>
          <a:xfrm>
            <a:off x="530589" y="2590696"/>
            <a:ext cx="3667036" cy="1676607"/>
          </a:xfrm>
        </p:spPr>
        <p:txBody>
          <a:bodyPr/>
          <a:lstStyle/>
          <a:p>
            <a:pPr lvl="0"/>
            <a:r>
              <a:rPr lang="en-GB">
                <a:solidFill>
                  <a:srgbClr val="BFBFBF"/>
                </a:solidFill>
              </a:rPr>
              <a:t>It does the same as this</a:t>
            </a:r>
          </a:p>
        </p:txBody>
      </p:sp>
      <p:pic>
        <p:nvPicPr>
          <p:cNvPr id="3" name="Picture 4">
            <a:extLst>
              <a:ext uri="{FF2B5EF4-FFF2-40B4-BE49-F238E27FC236}">
                <a16:creationId xmlns:a16="http://schemas.microsoft.com/office/drawing/2014/main" id="{BBC8732A-0F34-4CCF-8C1C-DB03637B2A83}"/>
              </a:ext>
            </a:extLst>
          </p:cNvPr>
          <p:cNvPicPr>
            <a:picLocks noChangeAspect="1"/>
          </p:cNvPicPr>
          <p:nvPr/>
        </p:nvPicPr>
        <p:blipFill>
          <a:blip r:embed="rId3"/>
          <a:stretch>
            <a:fillRect/>
          </a:stretch>
        </p:blipFill>
        <p:spPr>
          <a:xfrm>
            <a:off x="3652689" y="871569"/>
            <a:ext cx="8195236" cy="5114860"/>
          </a:xfrm>
          <a:prstGeom prst="rect">
            <a:avLst/>
          </a:prstGeom>
          <a:noFill/>
          <a:ln cap="flat">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pic>
        <p:nvPicPr>
          <p:cNvPr id="2" name="Content Placeholder 3" descr="A close up of a screen&#10;&#10;Description automatically generated">
            <a:extLst>
              <a:ext uri="{FF2B5EF4-FFF2-40B4-BE49-F238E27FC236}">
                <a16:creationId xmlns:a16="http://schemas.microsoft.com/office/drawing/2014/main" id="{C7F4C2A2-49BB-4AE3-AADC-83A001642996}"/>
              </a:ext>
            </a:extLst>
          </p:cNvPr>
          <p:cNvPicPr>
            <a:picLocks noGrp="1" noChangeAspect="1"/>
          </p:cNvPicPr>
          <p:nvPr>
            <p:ph idx="1"/>
          </p:nvPr>
        </p:nvPicPr>
        <p:blipFill>
          <a:blip r:embed="rId3"/>
          <a:srcRect r="2415" b="-2"/>
          <a:stretch>
            <a:fillRect/>
          </a:stretch>
        </p:blipFill>
        <p:spPr>
          <a:xfrm>
            <a:off x="226972" y="1717389"/>
            <a:ext cx="5359874" cy="4876504"/>
          </a:xfrm>
        </p:spPr>
      </p:pic>
      <p:pic>
        <p:nvPicPr>
          <p:cNvPr id="3" name="Content Placeholder 25">
            <a:extLst>
              <a:ext uri="{FF2B5EF4-FFF2-40B4-BE49-F238E27FC236}">
                <a16:creationId xmlns:a16="http://schemas.microsoft.com/office/drawing/2014/main" id="{FE454354-50A3-49F3-9441-C52EAB4463B2}"/>
              </a:ext>
            </a:extLst>
          </p:cNvPr>
          <p:cNvPicPr>
            <a:picLocks noGrp="1" noChangeAspect="1"/>
          </p:cNvPicPr>
          <p:nvPr>
            <p:ph idx="2"/>
          </p:nvPr>
        </p:nvPicPr>
        <p:blipFill>
          <a:blip r:embed="rId4"/>
          <a:stretch>
            <a:fillRect/>
          </a:stretch>
        </p:blipFill>
        <p:spPr>
          <a:xfrm>
            <a:off x="6172200" y="2384307"/>
            <a:ext cx="5181603" cy="3233967"/>
          </a:xfrm>
        </p:spPr>
      </p:pic>
      <p:sp>
        <p:nvSpPr>
          <p:cNvPr id="4" name="TextBox 26">
            <a:extLst>
              <a:ext uri="{FF2B5EF4-FFF2-40B4-BE49-F238E27FC236}">
                <a16:creationId xmlns:a16="http://schemas.microsoft.com/office/drawing/2014/main" id="{D0FC2D35-5FA4-4595-9F1B-EFD6FE0A26B2}"/>
              </a:ext>
            </a:extLst>
          </p:cNvPr>
          <p:cNvSpPr txBox="1"/>
          <p:nvPr/>
        </p:nvSpPr>
        <p:spPr>
          <a:xfrm>
            <a:off x="226972" y="264097"/>
            <a:ext cx="11738052" cy="707882"/>
          </a:xfrm>
          <a:prstGeom prst="rect">
            <a:avLst/>
          </a:prstGeom>
          <a:noFill/>
          <a:ln cap="flat">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000" b="0" i="0" u="none" strike="noStrike" kern="1200" cap="none" spc="0" baseline="0">
                <a:solidFill>
                  <a:srgbClr val="BFBFBF"/>
                </a:solidFill>
                <a:uFillTx/>
                <a:latin typeface="Calibri"/>
              </a:rPr>
              <a:t>Let’s digest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B7D13A9D-6126-49FA-BD50-BBC10ABB5CCF}"/>
              </a:ext>
            </a:extLst>
          </p:cNvPr>
          <p:cNvSpPr txBox="1">
            <a:spLocks noGrp="1"/>
          </p:cNvSpPr>
          <p:nvPr>
            <p:ph type="title"/>
          </p:nvPr>
        </p:nvSpPr>
        <p:spPr>
          <a:xfrm>
            <a:off x="8153403" y="365129"/>
            <a:ext cx="3430609" cy="5530318"/>
          </a:xfrm>
        </p:spPr>
        <p:txBody>
          <a:bodyPr/>
          <a:lstStyle/>
          <a:p>
            <a:pPr lvl="0"/>
            <a:r>
              <a:rPr lang="en-US">
                <a:solidFill>
                  <a:srgbClr val="BFBFBF"/>
                </a:solidFill>
              </a:rPr>
              <a:t>WTF are magic variables anyway?</a:t>
            </a:r>
          </a:p>
        </p:txBody>
      </p:sp>
      <p:pic>
        <p:nvPicPr>
          <p:cNvPr id="3" name="Content Placeholder 3">
            <a:extLst>
              <a:ext uri="{FF2B5EF4-FFF2-40B4-BE49-F238E27FC236}">
                <a16:creationId xmlns:a16="http://schemas.microsoft.com/office/drawing/2014/main" id="{0A029DA9-9FE9-4FC5-8953-585A367EC988}"/>
              </a:ext>
            </a:extLst>
          </p:cNvPr>
          <p:cNvPicPr>
            <a:picLocks noGrp="1" noChangeAspect="1"/>
          </p:cNvPicPr>
          <p:nvPr>
            <p:ph idx="1"/>
          </p:nvPr>
        </p:nvPicPr>
        <p:blipFill>
          <a:blip r:embed="rId3"/>
          <a:srcRect r="2455" b="-2"/>
          <a:stretch>
            <a:fillRect/>
          </a:stretch>
        </p:blipFill>
        <p:spPr>
          <a:xfrm>
            <a:off x="18" y="9"/>
            <a:ext cx="7534637" cy="6857990"/>
          </a:xfrm>
        </p:spPr>
      </p:pic>
      <p:pic>
        <p:nvPicPr>
          <p:cNvPr id="4" name="Picture 10">
            <a:extLst>
              <a:ext uri="{FF2B5EF4-FFF2-40B4-BE49-F238E27FC236}">
                <a16:creationId xmlns:a16="http://schemas.microsoft.com/office/drawing/2014/main" id="{C12DD410-8DEF-4E45-BB43-E3C3129FF9CE}"/>
              </a:ext>
            </a:extLst>
          </p:cNvPr>
          <p:cNvPicPr>
            <a:picLocks noChangeAspect="1"/>
          </p:cNvPicPr>
          <p:nvPr/>
        </p:nvPicPr>
        <p:blipFill>
          <a:blip r:embed="rId4"/>
          <a:stretch>
            <a:fillRect/>
          </a:stretch>
        </p:blipFill>
        <p:spPr>
          <a:xfrm>
            <a:off x="1001633" y="4447851"/>
            <a:ext cx="5924553" cy="371475"/>
          </a:xfrm>
          <a:prstGeom prst="rect">
            <a:avLst/>
          </a:prstGeom>
          <a:noFill/>
          <a:ln cap="flat">
            <a:noFill/>
          </a:ln>
        </p:spPr>
      </p:pic>
      <p:sp>
        <p:nvSpPr>
          <p:cNvPr id="5" name="TextBox 11">
            <a:extLst>
              <a:ext uri="{FF2B5EF4-FFF2-40B4-BE49-F238E27FC236}">
                <a16:creationId xmlns:a16="http://schemas.microsoft.com/office/drawing/2014/main" id="{EF2FBD6F-3DD4-4C0C-A1CE-3E430C4038CE}"/>
              </a:ext>
            </a:extLst>
          </p:cNvPr>
          <p:cNvSpPr txBox="1"/>
          <p:nvPr/>
        </p:nvSpPr>
        <p:spPr>
          <a:xfrm>
            <a:off x="1001633" y="3765179"/>
            <a:ext cx="7765843" cy="523219"/>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dirty="0">
                <a:solidFill>
                  <a:schemeClr val="bg1">
                    <a:lumMod val="85000"/>
                  </a:schemeClr>
                </a:solidFill>
                <a:uFillTx/>
                <a:latin typeface="Calibri"/>
              </a:rPr>
              <a:t>We’ve got 3 right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2.08333E-7 -4.44444E-6 L 0.00026 -0.17685 ">
                                      <p:cBhvr>
                                        <p:cTn id="10" dur="2000" fill="hold"/>
                                        <p:tgtEl>
                                          <p:spTgt spid="4"/>
                                        </p:tgtEl>
                                        <p:attrNameLst>
                                          <p:attrName>ppt_x</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12">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4DA507E7-99D8-455E-A70A-40E28DDB2164}"/>
              </a:ext>
            </a:extLst>
          </p:cNvPr>
          <p:cNvSpPr txBox="1">
            <a:spLocks noGrp="1"/>
          </p:cNvSpPr>
          <p:nvPr>
            <p:ph type="title"/>
          </p:nvPr>
        </p:nvSpPr>
        <p:spPr>
          <a:xfrm>
            <a:off x="8153403" y="365129"/>
            <a:ext cx="3430609" cy="5530318"/>
          </a:xfrm>
        </p:spPr>
        <p:txBody>
          <a:bodyPr/>
          <a:lstStyle/>
          <a:p>
            <a:pPr lvl="0"/>
            <a:r>
              <a:rPr lang="en-US">
                <a:solidFill>
                  <a:srgbClr val="BFBFBF"/>
                </a:solidFill>
              </a:rPr>
              <a:t>WTF are magic variables anyway?</a:t>
            </a:r>
          </a:p>
        </p:txBody>
      </p:sp>
      <p:pic>
        <p:nvPicPr>
          <p:cNvPr id="3" name="Content Placeholder 3">
            <a:extLst>
              <a:ext uri="{FF2B5EF4-FFF2-40B4-BE49-F238E27FC236}">
                <a16:creationId xmlns:a16="http://schemas.microsoft.com/office/drawing/2014/main" id="{B8BFA4A0-7873-44B2-8B8F-6B37D2E3C5C0}"/>
              </a:ext>
            </a:extLst>
          </p:cNvPr>
          <p:cNvPicPr>
            <a:picLocks noGrp="1" noChangeAspect="1"/>
          </p:cNvPicPr>
          <p:nvPr>
            <p:ph idx="1"/>
          </p:nvPr>
        </p:nvPicPr>
        <p:blipFill>
          <a:blip r:embed="rId3"/>
          <a:stretch>
            <a:fillRect/>
          </a:stretch>
        </p:blipFill>
        <p:spPr>
          <a:xfrm>
            <a:off x="607993" y="3113596"/>
            <a:ext cx="5640202" cy="630807"/>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05F0-C750-4828-8E9A-16D68A415956}"/>
              </a:ext>
            </a:extLst>
          </p:cNvPr>
          <p:cNvSpPr txBox="1">
            <a:spLocks noGrp="1"/>
          </p:cNvSpPr>
          <p:nvPr>
            <p:ph type="title"/>
          </p:nvPr>
        </p:nvSpPr>
        <p:spPr>
          <a:xfrm>
            <a:off x="8153403" y="365129"/>
            <a:ext cx="3430609" cy="5530318"/>
          </a:xfrm>
        </p:spPr>
        <p:txBody>
          <a:bodyPr/>
          <a:lstStyle/>
          <a:p>
            <a:pPr lvl="0"/>
            <a:r>
              <a:rPr lang="en-US">
                <a:solidFill>
                  <a:srgbClr val="BFBFBF"/>
                </a:solidFill>
              </a:rPr>
              <a:t>FFS use words</a:t>
            </a:r>
          </a:p>
        </p:txBody>
      </p:sp>
      <p:pic>
        <p:nvPicPr>
          <p:cNvPr id="3" name="Content Placeholder 3" descr="A close up of a screen&#10;&#10;Description automatically generated">
            <a:extLst>
              <a:ext uri="{FF2B5EF4-FFF2-40B4-BE49-F238E27FC236}">
                <a16:creationId xmlns:a16="http://schemas.microsoft.com/office/drawing/2014/main" id="{324B8F13-344F-4951-A08B-B6E8198438E2}"/>
              </a:ext>
            </a:extLst>
          </p:cNvPr>
          <p:cNvPicPr>
            <a:picLocks noGrp="1" noChangeAspect="1"/>
          </p:cNvPicPr>
          <p:nvPr>
            <p:ph idx="1"/>
          </p:nvPr>
        </p:nvPicPr>
        <p:blipFill>
          <a:blip r:embed="rId3"/>
          <a:srcRect r="2455" b="-2"/>
          <a:stretch>
            <a:fillRect/>
          </a:stretch>
        </p:blipFill>
        <p:spPr>
          <a:xfrm>
            <a:off x="18" y="9"/>
            <a:ext cx="7534637" cy="6857990"/>
          </a:xfrm>
        </p:spPr>
      </p:pic>
      <p:pic>
        <p:nvPicPr>
          <p:cNvPr id="4" name="Picture 4">
            <a:extLst>
              <a:ext uri="{FF2B5EF4-FFF2-40B4-BE49-F238E27FC236}">
                <a16:creationId xmlns:a16="http://schemas.microsoft.com/office/drawing/2014/main" id="{9BD20BCF-398F-4DD3-ADEB-125D45746A4E}"/>
              </a:ext>
            </a:extLst>
          </p:cNvPr>
          <p:cNvPicPr>
            <a:picLocks noChangeAspect="1"/>
          </p:cNvPicPr>
          <p:nvPr/>
        </p:nvPicPr>
        <p:blipFill>
          <a:blip r:embed="rId4"/>
          <a:stretch>
            <a:fillRect/>
          </a:stretch>
        </p:blipFill>
        <p:spPr>
          <a:xfrm>
            <a:off x="629509" y="627918"/>
            <a:ext cx="3067053" cy="352428"/>
          </a:xfrm>
          <a:prstGeom prst="rect">
            <a:avLst/>
          </a:prstGeom>
          <a:noFill/>
          <a:ln cap="flat">
            <a:noFill/>
          </a:ln>
        </p:spPr>
      </p:pic>
      <p:sp>
        <p:nvSpPr>
          <p:cNvPr id="5" name="TextBox 5">
            <a:extLst>
              <a:ext uri="{FF2B5EF4-FFF2-40B4-BE49-F238E27FC236}">
                <a16:creationId xmlns:a16="http://schemas.microsoft.com/office/drawing/2014/main" id="{882401A9-624C-423E-A004-7522CBF3604C}"/>
              </a:ext>
            </a:extLst>
          </p:cNvPr>
          <p:cNvSpPr txBox="1"/>
          <p:nvPr/>
        </p:nvSpPr>
        <p:spPr>
          <a:xfrm>
            <a:off x="1001633" y="3765179"/>
            <a:ext cx="7765843" cy="523219"/>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a:solidFill>
                  <a:srgbClr val="BFBFBF"/>
                </a:solidFill>
                <a:uFillTx/>
                <a:latin typeface="Calibri"/>
              </a:rPr>
              <a:t>Figured it out yet?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3.95833E-6 -1.11111E-6 L 0.00052 0.38264 ">
                                      <p:cBhvr>
                                        <p:cTn id="10" dur="2000" fill="hold"/>
                                        <p:tgtEl>
                                          <p:spTgt spid="4"/>
                                        </p:tgtEl>
                                        <p:attrNameLst>
                                          <p:attrName>ppt_x</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9181-68AC-4F61-B862-9535CC7F9DD8}"/>
              </a:ext>
            </a:extLst>
          </p:cNvPr>
          <p:cNvSpPr txBox="1">
            <a:spLocks noGrp="1"/>
          </p:cNvSpPr>
          <p:nvPr>
            <p:ph type="title"/>
          </p:nvPr>
        </p:nvSpPr>
        <p:spPr>
          <a:xfrm>
            <a:off x="8153403" y="365129"/>
            <a:ext cx="3430609" cy="5530318"/>
          </a:xfrm>
        </p:spPr>
        <p:txBody>
          <a:bodyPr/>
          <a:lstStyle/>
          <a:p>
            <a:pPr lvl="0"/>
            <a:r>
              <a:rPr lang="en-US">
                <a:solidFill>
                  <a:srgbClr val="BFBFBF"/>
                </a:solidFill>
              </a:rPr>
              <a:t>FFS use words</a:t>
            </a:r>
          </a:p>
        </p:txBody>
      </p:sp>
      <p:sp>
        <p:nvSpPr>
          <p:cNvPr id="3" name="Content Placeholder 6">
            <a:extLst>
              <a:ext uri="{FF2B5EF4-FFF2-40B4-BE49-F238E27FC236}">
                <a16:creationId xmlns:a16="http://schemas.microsoft.com/office/drawing/2014/main" id="{A302DC2C-2670-485B-A59A-1C98C265319E}"/>
              </a:ext>
            </a:extLst>
          </p:cNvPr>
          <p:cNvSpPr txBox="1">
            <a:spLocks noGrp="1"/>
          </p:cNvSpPr>
          <p:nvPr>
            <p:ph idx="1"/>
          </p:nvPr>
        </p:nvSpPr>
        <p:spPr>
          <a:xfrm>
            <a:off x="838203" y="1825627"/>
            <a:ext cx="7005922" cy="4351336"/>
          </a:xfrm>
        </p:spPr>
        <p:txBody>
          <a:bodyPr/>
          <a:lstStyle/>
          <a:p>
            <a:pPr lvl="0"/>
            <a:r>
              <a:rPr lang="en-GB">
                <a:solidFill>
                  <a:srgbClr val="BFBFBF"/>
                </a:solidFill>
              </a:rPr>
              <a:t>d1 and d2 are diagonal1 and diagonal2, whatever that means</a:t>
            </a:r>
          </a:p>
        </p:txBody>
      </p:sp>
      <p:pic>
        <p:nvPicPr>
          <p:cNvPr id="4" name="Picture 4">
            <a:extLst>
              <a:ext uri="{FF2B5EF4-FFF2-40B4-BE49-F238E27FC236}">
                <a16:creationId xmlns:a16="http://schemas.microsoft.com/office/drawing/2014/main" id="{62B574BD-ADA9-4AAF-9E96-6D1724786148}"/>
              </a:ext>
            </a:extLst>
          </p:cNvPr>
          <p:cNvPicPr>
            <a:picLocks noChangeAspect="1"/>
          </p:cNvPicPr>
          <p:nvPr/>
        </p:nvPicPr>
        <p:blipFill>
          <a:blip r:embed="rId3"/>
          <a:stretch>
            <a:fillRect/>
          </a:stretch>
        </p:blipFill>
        <p:spPr>
          <a:xfrm>
            <a:off x="1134038" y="1473198"/>
            <a:ext cx="3067053" cy="352428"/>
          </a:xfrm>
          <a:prstGeom prst="rect">
            <a:avLst/>
          </a:prstGeom>
          <a:noFill/>
          <a:ln cap="flat">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689F-6C1D-42BF-8C55-346139699C76}"/>
              </a:ext>
            </a:extLst>
          </p:cNvPr>
          <p:cNvSpPr txBox="1">
            <a:spLocks noGrp="1"/>
          </p:cNvSpPr>
          <p:nvPr>
            <p:ph type="title"/>
          </p:nvPr>
        </p:nvSpPr>
        <p:spPr>
          <a:xfrm>
            <a:off x="8153403" y="365129"/>
            <a:ext cx="3430609" cy="5530318"/>
          </a:xfrm>
        </p:spPr>
        <p:txBody>
          <a:bodyPr/>
          <a:lstStyle/>
          <a:p>
            <a:pPr lvl="0"/>
            <a:r>
              <a:rPr lang="en-US" dirty="0">
                <a:solidFill>
                  <a:srgbClr val="BFBFBF"/>
                </a:solidFill>
              </a:rPr>
              <a:t>Signal to noise wastes</a:t>
            </a:r>
            <a:br>
              <a:rPr lang="en-US" dirty="0">
                <a:solidFill>
                  <a:srgbClr val="BFBFBF"/>
                </a:solidFill>
              </a:rPr>
            </a:br>
            <a:r>
              <a:rPr lang="en-US" dirty="0">
                <a:solidFill>
                  <a:srgbClr val="BFBFBF"/>
                </a:solidFill>
              </a:rPr>
              <a:t>cognitive resource</a:t>
            </a:r>
          </a:p>
        </p:txBody>
      </p:sp>
      <p:pic>
        <p:nvPicPr>
          <p:cNvPr id="3" name="Content Placeholder 3" descr="A close up of a screen&#10;&#10;Description automatically generated">
            <a:extLst>
              <a:ext uri="{FF2B5EF4-FFF2-40B4-BE49-F238E27FC236}">
                <a16:creationId xmlns:a16="http://schemas.microsoft.com/office/drawing/2014/main" id="{624F924B-A04F-46C1-A599-BD87DE5200D4}"/>
              </a:ext>
            </a:extLst>
          </p:cNvPr>
          <p:cNvPicPr>
            <a:picLocks noGrp="1" noChangeAspect="1"/>
          </p:cNvPicPr>
          <p:nvPr>
            <p:ph idx="1"/>
          </p:nvPr>
        </p:nvPicPr>
        <p:blipFill>
          <a:blip r:embed="rId3"/>
          <a:srcRect r="2455" b="-2"/>
          <a:stretch>
            <a:fillRect/>
          </a:stretch>
        </p:blipFill>
        <p:spPr>
          <a:xfrm>
            <a:off x="18" y="9"/>
            <a:ext cx="7534637" cy="6857990"/>
          </a:xfrm>
        </p:spPr>
      </p:pic>
      <p:sp>
        <p:nvSpPr>
          <p:cNvPr id="4" name="TextBox 6">
            <a:extLst>
              <a:ext uri="{FF2B5EF4-FFF2-40B4-BE49-F238E27FC236}">
                <a16:creationId xmlns:a16="http://schemas.microsoft.com/office/drawing/2014/main" id="{338A5917-6A01-432F-981C-4115AA578CEB}"/>
              </a:ext>
            </a:extLst>
          </p:cNvPr>
          <p:cNvSpPr txBox="1"/>
          <p:nvPr/>
        </p:nvSpPr>
        <p:spPr>
          <a:xfrm>
            <a:off x="0"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5" name="TextBox 7">
            <a:extLst>
              <a:ext uri="{FF2B5EF4-FFF2-40B4-BE49-F238E27FC236}">
                <a16:creationId xmlns:a16="http://schemas.microsoft.com/office/drawing/2014/main" id="{CEC63512-985C-4648-98B5-6C11D3A87A86}"/>
              </a:ext>
            </a:extLst>
          </p:cNvPr>
          <p:cNvSpPr txBox="1"/>
          <p:nvPr/>
        </p:nvSpPr>
        <p:spPr>
          <a:xfrm>
            <a:off x="348176"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6" name="TextBox 8">
            <a:extLst>
              <a:ext uri="{FF2B5EF4-FFF2-40B4-BE49-F238E27FC236}">
                <a16:creationId xmlns:a16="http://schemas.microsoft.com/office/drawing/2014/main" id="{D0319489-185C-4D4C-A46B-6FF304336C5D}"/>
              </a:ext>
            </a:extLst>
          </p:cNvPr>
          <p:cNvSpPr txBox="1"/>
          <p:nvPr/>
        </p:nvSpPr>
        <p:spPr>
          <a:xfrm>
            <a:off x="694724"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7" name="TextBox 9">
            <a:extLst>
              <a:ext uri="{FF2B5EF4-FFF2-40B4-BE49-F238E27FC236}">
                <a16:creationId xmlns:a16="http://schemas.microsoft.com/office/drawing/2014/main" id="{60758E2E-25F2-449C-BA7D-E3A7E136CCD0}"/>
              </a:ext>
            </a:extLst>
          </p:cNvPr>
          <p:cNvSpPr txBox="1"/>
          <p:nvPr/>
        </p:nvSpPr>
        <p:spPr>
          <a:xfrm>
            <a:off x="1044491"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8" name="TextBox 10">
            <a:extLst>
              <a:ext uri="{FF2B5EF4-FFF2-40B4-BE49-F238E27FC236}">
                <a16:creationId xmlns:a16="http://schemas.microsoft.com/office/drawing/2014/main" id="{42E93748-0519-45B1-8529-D102995550C7}"/>
              </a:ext>
            </a:extLst>
          </p:cNvPr>
          <p:cNvSpPr txBox="1"/>
          <p:nvPr/>
        </p:nvSpPr>
        <p:spPr>
          <a:xfrm>
            <a:off x="1392667"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9" name="TextBox 11">
            <a:extLst>
              <a:ext uri="{FF2B5EF4-FFF2-40B4-BE49-F238E27FC236}">
                <a16:creationId xmlns:a16="http://schemas.microsoft.com/office/drawing/2014/main" id="{BF57900F-9879-4A5B-ADD5-F1DA516D4273}"/>
              </a:ext>
            </a:extLst>
          </p:cNvPr>
          <p:cNvSpPr txBox="1"/>
          <p:nvPr/>
        </p:nvSpPr>
        <p:spPr>
          <a:xfrm>
            <a:off x="1740843"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0" name="TextBox 12">
            <a:extLst>
              <a:ext uri="{FF2B5EF4-FFF2-40B4-BE49-F238E27FC236}">
                <a16:creationId xmlns:a16="http://schemas.microsoft.com/office/drawing/2014/main" id="{B7515435-157E-4EAF-9C5F-F44E320A360F}"/>
              </a:ext>
            </a:extLst>
          </p:cNvPr>
          <p:cNvSpPr txBox="1"/>
          <p:nvPr/>
        </p:nvSpPr>
        <p:spPr>
          <a:xfrm>
            <a:off x="2087392"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1" name="TextBox 13">
            <a:extLst>
              <a:ext uri="{FF2B5EF4-FFF2-40B4-BE49-F238E27FC236}">
                <a16:creationId xmlns:a16="http://schemas.microsoft.com/office/drawing/2014/main" id="{CEFC9796-E7DB-4D33-BBB0-C8723344F197}"/>
              </a:ext>
            </a:extLst>
          </p:cNvPr>
          <p:cNvSpPr txBox="1"/>
          <p:nvPr/>
        </p:nvSpPr>
        <p:spPr>
          <a:xfrm>
            <a:off x="2437159"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2" name="TextBox 14">
            <a:extLst>
              <a:ext uri="{FF2B5EF4-FFF2-40B4-BE49-F238E27FC236}">
                <a16:creationId xmlns:a16="http://schemas.microsoft.com/office/drawing/2014/main" id="{9618A479-06FD-40F0-A233-51BA6EB2D259}"/>
              </a:ext>
            </a:extLst>
          </p:cNvPr>
          <p:cNvSpPr txBox="1"/>
          <p:nvPr/>
        </p:nvSpPr>
        <p:spPr>
          <a:xfrm>
            <a:off x="2785335"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3" name="TextBox 15">
            <a:extLst>
              <a:ext uri="{FF2B5EF4-FFF2-40B4-BE49-F238E27FC236}">
                <a16:creationId xmlns:a16="http://schemas.microsoft.com/office/drawing/2014/main" id="{C447FB8D-8D9A-44FD-94A6-63304A2F082B}"/>
              </a:ext>
            </a:extLst>
          </p:cNvPr>
          <p:cNvSpPr txBox="1"/>
          <p:nvPr/>
        </p:nvSpPr>
        <p:spPr>
          <a:xfrm>
            <a:off x="3133511"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4" name="TextBox 16">
            <a:extLst>
              <a:ext uri="{FF2B5EF4-FFF2-40B4-BE49-F238E27FC236}">
                <a16:creationId xmlns:a16="http://schemas.microsoft.com/office/drawing/2014/main" id="{B3BE3D4F-E71A-4DC5-A51A-E9DA8C24E515}"/>
              </a:ext>
            </a:extLst>
          </p:cNvPr>
          <p:cNvSpPr txBox="1"/>
          <p:nvPr/>
        </p:nvSpPr>
        <p:spPr>
          <a:xfrm>
            <a:off x="3480060"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5" name="TextBox 17">
            <a:extLst>
              <a:ext uri="{FF2B5EF4-FFF2-40B4-BE49-F238E27FC236}">
                <a16:creationId xmlns:a16="http://schemas.microsoft.com/office/drawing/2014/main" id="{4ECB47B9-3E96-4FCF-92D0-4662CE66AA1A}"/>
              </a:ext>
            </a:extLst>
          </p:cNvPr>
          <p:cNvSpPr txBox="1"/>
          <p:nvPr/>
        </p:nvSpPr>
        <p:spPr>
          <a:xfrm>
            <a:off x="3829836"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6" name="TextBox 18">
            <a:extLst>
              <a:ext uri="{FF2B5EF4-FFF2-40B4-BE49-F238E27FC236}">
                <a16:creationId xmlns:a16="http://schemas.microsoft.com/office/drawing/2014/main" id="{AAB6FDA8-B382-43EE-B97F-90CDF6099B68}"/>
              </a:ext>
            </a:extLst>
          </p:cNvPr>
          <p:cNvSpPr txBox="1"/>
          <p:nvPr/>
        </p:nvSpPr>
        <p:spPr>
          <a:xfrm>
            <a:off x="4174775"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7" name="TextBox 19">
            <a:extLst>
              <a:ext uri="{FF2B5EF4-FFF2-40B4-BE49-F238E27FC236}">
                <a16:creationId xmlns:a16="http://schemas.microsoft.com/office/drawing/2014/main" id="{8A210745-A326-43CB-B09C-C9FE34FFD560}"/>
              </a:ext>
            </a:extLst>
          </p:cNvPr>
          <p:cNvSpPr txBox="1"/>
          <p:nvPr/>
        </p:nvSpPr>
        <p:spPr>
          <a:xfrm>
            <a:off x="4522951"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
        <p:nvSpPr>
          <p:cNvPr id="18" name="TextBox 20">
            <a:extLst>
              <a:ext uri="{FF2B5EF4-FFF2-40B4-BE49-F238E27FC236}">
                <a16:creationId xmlns:a16="http://schemas.microsoft.com/office/drawing/2014/main" id="{7D621122-9294-4CAB-B567-7D7D3A62177B}"/>
              </a:ext>
            </a:extLst>
          </p:cNvPr>
          <p:cNvSpPr txBox="1"/>
          <p:nvPr/>
        </p:nvSpPr>
        <p:spPr>
          <a:xfrm>
            <a:off x="4869500" y="0"/>
            <a:ext cx="348176" cy="369335"/>
          </a:xfrm>
          <a:prstGeom prst="rect">
            <a:avLst/>
          </a:prstGeom>
          <a:solidFill>
            <a:srgbClr val="000000"/>
          </a:solid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0000"/>
                </a:solidFill>
                <a:uFillTx/>
                <a:latin typeface="Calibri"/>
              </a:rPr>
              <a:t>IF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7B37-A03D-436C-B3DA-C39547E74C05}"/>
              </a:ext>
            </a:extLst>
          </p:cNvPr>
          <p:cNvSpPr txBox="1">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600FF3B-4621-4B44-96AF-D3D32E430DFB}"/>
              </a:ext>
            </a:extLst>
          </p:cNvPr>
          <p:cNvSpPr txBox="1">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1DF440CC-DFD3-4BDD-B32F-21ACD94E70F1}"/>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1C258-5907-4790-847B-FB17A194EDC6}"/>
              </a:ext>
            </a:extLst>
          </p:cNvPr>
          <p:cNvSpPr txBox="1">
            <a:spLocks noGrp="1"/>
          </p:cNvSpPr>
          <p:nvPr>
            <p:ph type="title"/>
          </p:nvPr>
        </p:nvSpPr>
        <p:spPr>
          <a:xfrm>
            <a:off x="651308" y="640080"/>
            <a:ext cx="3377180" cy="3681977"/>
          </a:xfrm>
        </p:spPr>
        <p:txBody>
          <a:bodyPr anchor="b">
            <a:normAutofit fontScale="90000"/>
          </a:bodyPr>
          <a:lstStyle/>
          <a:p>
            <a:pPr lvl="0" algn="r"/>
            <a:r>
              <a:rPr lang="en-US" sz="3800">
                <a:solidFill>
                  <a:srgbClr val="BFBFBF"/>
                </a:solidFill>
              </a:rPr>
              <a:t>Your if’s are always describing something. </a:t>
            </a:r>
            <a:br>
              <a:rPr lang="en-US" sz="3800">
                <a:solidFill>
                  <a:srgbClr val="BFBFBF"/>
                </a:solidFill>
              </a:rPr>
            </a:br>
            <a:br>
              <a:rPr lang="en-US" sz="3800">
                <a:solidFill>
                  <a:srgbClr val="BFBFBF"/>
                </a:solidFill>
              </a:rPr>
            </a:br>
            <a:r>
              <a:rPr lang="en-US" sz="3800">
                <a:solidFill>
                  <a:srgbClr val="BFBFBF"/>
                </a:solidFill>
              </a:rPr>
              <a:t>So just call it what it is</a:t>
            </a:r>
          </a:p>
        </p:txBody>
      </p:sp>
      <p:pic>
        <p:nvPicPr>
          <p:cNvPr id="3" name="Content Placeholder 25">
            <a:extLst>
              <a:ext uri="{FF2B5EF4-FFF2-40B4-BE49-F238E27FC236}">
                <a16:creationId xmlns:a16="http://schemas.microsoft.com/office/drawing/2014/main" id="{19ABC1C0-D36E-41CB-B20C-88A8EA75DE88}"/>
              </a:ext>
            </a:extLst>
          </p:cNvPr>
          <p:cNvPicPr>
            <a:picLocks noChangeAspect="1"/>
          </p:cNvPicPr>
          <p:nvPr/>
        </p:nvPicPr>
        <p:blipFill>
          <a:blip r:embed="rId3"/>
          <a:srcRect l="12092" r="19310"/>
          <a:stretch>
            <a:fillRect/>
          </a:stretch>
        </p:blipFill>
        <p:spPr>
          <a:xfrm>
            <a:off x="4654296" y="9"/>
            <a:ext cx="7537700" cy="6857990"/>
          </a:xfrm>
          <a:prstGeom prst="rect">
            <a:avLst/>
          </a:prstGeom>
          <a:noFill/>
          <a:ln cap="flat">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89F4-EF18-4622-A44B-315222A4AE98}"/>
              </a:ext>
            </a:extLst>
          </p:cNvPr>
          <p:cNvSpPr txBox="1">
            <a:spLocks noGrp="1"/>
          </p:cNvSpPr>
          <p:nvPr>
            <p:ph type="title"/>
          </p:nvPr>
        </p:nvSpPr>
        <p:spPr>
          <a:xfrm>
            <a:off x="8153403" y="365129"/>
            <a:ext cx="3430609" cy="5530318"/>
          </a:xfrm>
        </p:spPr>
        <p:txBody>
          <a:bodyPr/>
          <a:lstStyle/>
          <a:p>
            <a:pPr lvl="0"/>
            <a:r>
              <a:rPr lang="en-US" dirty="0">
                <a:solidFill>
                  <a:srgbClr val="BFBFBF"/>
                </a:solidFill>
              </a:rPr>
              <a:t>Signal to noise wastes</a:t>
            </a:r>
            <a:br>
              <a:rPr lang="en-US" dirty="0">
                <a:solidFill>
                  <a:srgbClr val="BFBFBF"/>
                </a:solidFill>
              </a:rPr>
            </a:br>
            <a:r>
              <a:rPr lang="en-US" dirty="0">
                <a:solidFill>
                  <a:srgbClr val="BFBFBF"/>
                </a:solidFill>
              </a:rPr>
              <a:t>cognitive resource</a:t>
            </a:r>
          </a:p>
        </p:txBody>
      </p:sp>
      <p:pic>
        <p:nvPicPr>
          <p:cNvPr id="3" name="Picture 4">
            <a:extLst>
              <a:ext uri="{FF2B5EF4-FFF2-40B4-BE49-F238E27FC236}">
                <a16:creationId xmlns:a16="http://schemas.microsoft.com/office/drawing/2014/main" id="{AE0E4136-131E-4546-929C-3BB7FE71FA73}"/>
              </a:ext>
            </a:extLst>
          </p:cNvPr>
          <p:cNvPicPr>
            <a:picLocks noChangeAspect="1"/>
          </p:cNvPicPr>
          <p:nvPr/>
        </p:nvPicPr>
        <p:blipFill>
          <a:blip r:embed="rId3"/>
          <a:stretch>
            <a:fillRect/>
          </a:stretch>
        </p:blipFill>
        <p:spPr>
          <a:xfrm>
            <a:off x="150601" y="962552"/>
            <a:ext cx="10186214" cy="320936"/>
          </a:xfrm>
          <a:prstGeom prst="rect">
            <a:avLst/>
          </a:prstGeom>
          <a:noFill/>
          <a:ln cap="flat">
            <a:noFill/>
          </a:ln>
        </p:spPr>
      </p:pic>
      <p:pic>
        <p:nvPicPr>
          <p:cNvPr id="4" name="Picture 21">
            <a:extLst>
              <a:ext uri="{FF2B5EF4-FFF2-40B4-BE49-F238E27FC236}">
                <a16:creationId xmlns:a16="http://schemas.microsoft.com/office/drawing/2014/main" id="{12CCA344-1A23-4E49-9928-0F646F990B6C}"/>
              </a:ext>
            </a:extLst>
          </p:cNvPr>
          <p:cNvPicPr>
            <a:picLocks noChangeAspect="1"/>
          </p:cNvPicPr>
          <p:nvPr/>
        </p:nvPicPr>
        <p:blipFill>
          <a:blip r:embed="rId4"/>
          <a:stretch>
            <a:fillRect/>
          </a:stretch>
        </p:blipFill>
        <p:spPr>
          <a:xfrm>
            <a:off x="215158" y="1406895"/>
            <a:ext cx="8308649" cy="320936"/>
          </a:xfrm>
          <a:prstGeom prst="rect">
            <a:avLst/>
          </a:prstGeom>
          <a:noFill/>
          <a:ln cap="flat">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07500-1B90-4D63-9844-FCB3EF9E9652}"/>
              </a:ext>
            </a:extLst>
          </p:cNvPr>
          <p:cNvSpPr txBox="1">
            <a:spLocks noGrp="1"/>
          </p:cNvSpPr>
          <p:nvPr>
            <p:ph type="title"/>
          </p:nvPr>
        </p:nvSpPr>
        <p:spPr>
          <a:xfrm>
            <a:off x="1524003" y="1122361"/>
            <a:ext cx="9144000" cy="2840034"/>
          </a:xfrm>
        </p:spPr>
        <p:txBody>
          <a:bodyPr anchor="b" anchorCtr="1"/>
          <a:lstStyle/>
          <a:p>
            <a:pPr lvl="0" algn="ctr"/>
            <a:r>
              <a:rPr lang="en-US" sz="5800">
                <a:solidFill>
                  <a:srgbClr val="D9D9D9"/>
                </a:solidFill>
              </a:rPr>
              <a:t>What’s the most dangerous code in source control?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30D034BF-E4F9-4402-AD49-6E2E04024392}"/>
              </a:ext>
            </a:extLst>
          </p:cNvPr>
          <p:cNvPicPr>
            <a:picLocks noGrp="1" noChangeAspect="1"/>
          </p:cNvPicPr>
          <p:nvPr>
            <p:ph idx="1"/>
          </p:nvPr>
        </p:nvPicPr>
        <p:blipFill>
          <a:blip r:embed="rId3"/>
          <a:stretch>
            <a:fillRect/>
          </a:stretch>
        </p:blipFill>
        <p:spPr>
          <a:xfrm>
            <a:off x="472443" y="343092"/>
            <a:ext cx="11076822" cy="1191527"/>
          </a:xfrm>
        </p:spPr>
      </p:pic>
      <p:pic>
        <p:nvPicPr>
          <p:cNvPr id="3" name="Picture 4">
            <a:extLst>
              <a:ext uri="{FF2B5EF4-FFF2-40B4-BE49-F238E27FC236}">
                <a16:creationId xmlns:a16="http://schemas.microsoft.com/office/drawing/2014/main" id="{5544EDC1-C7B4-4DCC-BFC1-F7A422C6FCFC}"/>
              </a:ext>
            </a:extLst>
          </p:cNvPr>
          <p:cNvPicPr>
            <a:picLocks noChangeAspect="1"/>
          </p:cNvPicPr>
          <p:nvPr/>
        </p:nvPicPr>
        <p:blipFill>
          <a:blip r:embed="rId4"/>
          <a:stretch>
            <a:fillRect/>
          </a:stretch>
        </p:blipFill>
        <p:spPr>
          <a:xfrm>
            <a:off x="472443" y="1727795"/>
            <a:ext cx="6305793" cy="1419688"/>
          </a:xfrm>
          <a:prstGeom prst="rect">
            <a:avLst/>
          </a:prstGeom>
          <a:noFill/>
          <a:ln cap="flat">
            <a:noFill/>
          </a:ln>
        </p:spPr>
      </p:pic>
      <p:sp>
        <p:nvSpPr>
          <p:cNvPr id="4" name="TextBox 5">
            <a:extLst>
              <a:ext uri="{FF2B5EF4-FFF2-40B4-BE49-F238E27FC236}">
                <a16:creationId xmlns:a16="http://schemas.microsoft.com/office/drawing/2014/main" id="{3D8CA44B-CFCE-45C7-B43A-A52E3A90A13B}"/>
              </a:ext>
            </a:extLst>
          </p:cNvPr>
          <p:cNvSpPr txBox="1"/>
          <p:nvPr/>
        </p:nvSpPr>
        <p:spPr>
          <a:xfrm>
            <a:off x="1069335" y="2824316"/>
            <a:ext cx="10650227" cy="646334"/>
          </a:xfrm>
          <a:prstGeom prst="rect">
            <a:avLst/>
          </a:prstGeom>
          <a:no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3600" b="0" i="0" u="sng" strike="noStrike" kern="1200" cap="none" spc="0" baseline="0">
                <a:solidFill>
                  <a:srgbClr val="D9D9D9"/>
                </a:solidFill>
                <a:uFillTx/>
                <a:latin typeface="Calibri"/>
              </a:rPr>
              <a:t>Commented out code should never be in source control</a:t>
            </a:r>
            <a:r>
              <a:rPr lang="en-GB" sz="1800" b="0" i="0" u="none" strike="noStrike" kern="1200" cap="none" spc="0" baseline="0">
                <a:solidFill>
                  <a:srgbClr val="D9D9D9"/>
                </a:solidFill>
                <a:uFillTx/>
                <a:latin typeface="Calibri"/>
              </a:rPr>
              <a:t>.</a:t>
            </a:r>
          </a:p>
        </p:txBody>
      </p:sp>
      <p:pic>
        <p:nvPicPr>
          <p:cNvPr id="5" name="Picture 6">
            <a:extLst>
              <a:ext uri="{FF2B5EF4-FFF2-40B4-BE49-F238E27FC236}">
                <a16:creationId xmlns:a16="http://schemas.microsoft.com/office/drawing/2014/main" id="{43BEE0A7-580F-422E-920E-EC4C753486BB}"/>
              </a:ext>
            </a:extLst>
          </p:cNvPr>
          <p:cNvPicPr>
            <a:picLocks noChangeAspect="1"/>
          </p:cNvPicPr>
          <p:nvPr/>
        </p:nvPicPr>
        <p:blipFill>
          <a:blip r:embed="rId5"/>
          <a:stretch>
            <a:fillRect/>
          </a:stretch>
        </p:blipFill>
        <p:spPr>
          <a:xfrm>
            <a:off x="472443" y="3340659"/>
            <a:ext cx="8191496" cy="3438528"/>
          </a:xfrm>
          <a:prstGeom prst="rect">
            <a:avLst/>
          </a:prstGeom>
          <a:noFill/>
          <a:ln cap="flat">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470B2-BF4B-4BB8-90DB-28156A7C3915}"/>
              </a:ext>
            </a:extLst>
          </p:cNvPr>
          <p:cNvSpPr txBox="1">
            <a:spLocks noGrp="1"/>
          </p:cNvSpPr>
          <p:nvPr>
            <p:ph type="title"/>
          </p:nvPr>
        </p:nvSpPr>
        <p:spPr/>
        <p:txBody>
          <a:bodyPr/>
          <a:lstStyle/>
          <a:p>
            <a:pPr lvl="0"/>
            <a:r>
              <a:rPr lang="en-GB">
                <a:solidFill>
                  <a:srgbClr val="D9D9D9"/>
                </a:solidFill>
              </a:rPr>
              <a:t>The same goes for unused code</a:t>
            </a:r>
          </a:p>
        </p:txBody>
      </p:sp>
      <p:sp>
        <p:nvSpPr>
          <p:cNvPr id="3" name="Content Placeholder 2">
            <a:extLst>
              <a:ext uri="{FF2B5EF4-FFF2-40B4-BE49-F238E27FC236}">
                <a16:creationId xmlns:a16="http://schemas.microsoft.com/office/drawing/2014/main" id="{7590D94C-0A3B-4698-B8CC-F6D81EF8F902}"/>
              </a:ext>
            </a:extLst>
          </p:cNvPr>
          <p:cNvSpPr txBox="1">
            <a:spLocks noGrp="1"/>
          </p:cNvSpPr>
          <p:nvPr>
            <p:ph idx="1"/>
          </p:nvPr>
        </p:nvSpPr>
        <p:spPr/>
        <p:txBody>
          <a:bodyPr/>
          <a:lstStyle/>
          <a:p>
            <a:pPr lvl="0"/>
            <a:r>
              <a:rPr lang="en-GB">
                <a:solidFill>
                  <a:srgbClr val="D9D9D9"/>
                </a:solidFill>
              </a:rPr>
              <a:t>For the love of god; don’t future-gaze </a:t>
            </a:r>
          </a:p>
          <a:p>
            <a:pPr lvl="0"/>
            <a:r>
              <a:rPr lang="en-GB">
                <a:solidFill>
                  <a:srgbClr val="D9D9D9"/>
                </a:solidFill>
              </a:rPr>
              <a:t>If you write something that you don’t need, remove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B334F7B-B559-4308-BCA1-83640FFAA669}"/>
              </a:ext>
            </a:extLst>
          </p:cNvPr>
          <p:cNvSpPr txBox="1"/>
          <p:nvPr/>
        </p:nvSpPr>
        <p:spPr>
          <a:xfrm>
            <a:off x="0" y="0"/>
            <a:ext cx="8724454" cy="1015660"/>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6000" b="0" i="0" u="none" strike="noStrike" kern="1200" cap="none" spc="0" baseline="0">
                <a:solidFill>
                  <a:srgbClr val="D9D9D9"/>
                </a:solidFill>
                <a:uFillTx/>
                <a:latin typeface="Calibri"/>
              </a:rPr>
              <a:t>Death by a thousand</a:t>
            </a:r>
          </a:p>
        </p:txBody>
      </p:sp>
      <p:sp>
        <p:nvSpPr>
          <p:cNvPr id="3" name="TextBox 4">
            <a:extLst>
              <a:ext uri="{FF2B5EF4-FFF2-40B4-BE49-F238E27FC236}">
                <a16:creationId xmlns:a16="http://schemas.microsoft.com/office/drawing/2014/main" id="{5CEEE278-7C99-4049-AF66-A80B667BB268}"/>
              </a:ext>
            </a:extLst>
          </p:cNvPr>
          <p:cNvSpPr txBox="1"/>
          <p:nvPr/>
        </p:nvSpPr>
        <p:spPr>
          <a:xfrm>
            <a:off x="6519132" y="176899"/>
            <a:ext cx="4839782" cy="769440"/>
          </a:xfrm>
          <a:prstGeom prst="rect">
            <a:avLst/>
          </a:prstGeom>
          <a:noFill/>
          <a:ln cap="flat">
            <a:noFill/>
          </a:ln>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400" b="0" i="0" u="none" strike="noStrike" kern="1200" cap="none" spc="0" baseline="0">
                <a:solidFill>
                  <a:srgbClr val="D9D9D9"/>
                </a:solidFill>
                <a:uFillTx/>
                <a:latin typeface="Calibri"/>
              </a:rPr>
              <a:t>Line helper classes…</a:t>
            </a:r>
          </a:p>
        </p:txBody>
      </p:sp>
      <p:pic>
        <p:nvPicPr>
          <p:cNvPr id="4" name="Picture 6">
            <a:extLst>
              <a:ext uri="{FF2B5EF4-FFF2-40B4-BE49-F238E27FC236}">
                <a16:creationId xmlns:a16="http://schemas.microsoft.com/office/drawing/2014/main" id="{B8A27D0B-2C7F-4D6C-B63F-8A6847E67E66}"/>
              </a:ext>
            </a:extLst>
          </p:cNvPr>
          <p:cNvPicPr>
            <a:picLocks noChangeAspect="1"/>
          </p:cNvPicPr>
          <p:nvPr/>
        </p:nvPicPr>
        <p:blipFill>
          <a:blip r:embed="rId3"/>
          <a:stretch>
            <a:fillRect/>
          </a:stretch>
        </p:blipFill>
        <p:spPr>
          <a:xfrm>
            <a:off x="6981709" y="1926860"/>
            <a:ext cx="5350136" cy="1244727"/>
          </a:xfrm>
          <a:prstGeom prst="rect">
            <a:avLst/>
          </a:prstGeom>
          <a:noFill/>
          <a:ln cap="flat">
            <a:noFill/>
          </a:ln>
        </p:spPr>
      </p:pic>
      <p:pic>
        <p:nvPicPr>
          <p:cNvPr id="5" name="Picture 2">
            <a:extLst>
              <a:ext uri="{FF2B5EF4-FFF2-40B4-BE49-F238E27FC236}">
                <a16:creationId xmlns:a16="http://schemas.microsoft.com/office/drawing/2014/main" id="{3B236BA9-4610-4007-ACCF-5682EF33B0A2}"/>
              </a:ext>
            </a:extLst>
          </p:cNvPr>
          <p:cNvPicPr>
            <a:picLocks noChangeAspect="1"/>
          </p:cNvPicPr>
          <p:nvPr/>
        </p:nvPicPr>
        <p:blipFill>
          <a:blip r:embed="rId4"/>
          <a:srcRect/>
          <a:stretch>
            <a:fillRect/>
          </a:stretch>
        </p:blipFill>
        <p:spPr>
          <a:xfrm>
            <a:off x="0" y="2040492"/>
            <a:ext cx="7228487" cy="4817507"/>
          </a:xfrm>
          <a:prstGeom prst="rect">
            <a:avLst/>
          </a:prstGeom>
          <a:noFill/>
          <a:ln cap="flat">
            <a:noFill/>
          </a:ln>
        </p:spPr>
      </p:pic>
      <p:sp>
        <p:nvSpPr>
          <p:cNvPr id="6" name="Speech Bubble: Oval 5">
            <a:extLst>
              <a:ext uri="{FF2B5EF4-FFF2-40B4-BE49-F238E27FC236}">
                <a16:creationId xmlns:a16="http://schemas.microsoft.com/office/drawing/2014/main" id="{5A50F537-1467-4C6E-8A25-C86BFC2FB413}"/>
              </a:ext>
            </a:extLst>
          </p:cNvPr>
          <p:cNvSpPr/>
          <p:nvPr/>
        </p:nvSpPr>
        <p:spPr>
          <a:xfrm>
            <a:off x="3205776" y="2057592"/>
            <a:ext cx="2538804" cy="2391658"/>
          </a:xfrm>
          <a:custGeom>
            <a:avLst>
              <a:gd name="f0" fmla="val 6300"/>
              <a:gd name="f1" fmla="val 24300"/>
            </a:avLst>
            <a:gdLst>
              <a:gd name="f2" fmla="val 21600000"/>
              <a:gd name="f3" fmla="val 10800000"/>
              <a:gd name="f4" fmla="val 5400000"/>
              <a:gd name="f5" fmla="val 180"/>
              <a:gd name="f6" fmla="val w"/>
              <a:gd name="f7" fmla="val h"/>
              <a:gd name="f8" fmla="*/ 5419351 1 1725033"/>
              <a:gd name="f9" fmla="val -2147483647"/>
              <a:gd name="f10" fmla="val 2147483647"/>
              <a:gd name="f11" fmla="min 0 21600"/>
              <a:gd name="f12" fmla="max 0 21600"/>
              <a:gd name="f13" fmla="+- 0 0 0"/>
              <a:gd name="f14" fmla="+- 0 0 180"/>
              <a:gd name="f15" fmla="+- 0 0 -194"/>
              <a:gd name="f16" fmla="*/ f6 1 21600"/>
              <a:gd name="f17" fmla="*/ f7 1 21600"/>
              <a:gd name="f18" fmla="*/ f8 1 180"/>
              <a:gd name="f19" fmla="pin -2147483647 f0 2147483647"/>
              <a:gd name="f20" fmla="pin -2147483647 f1 2147483647"/>
              <a:gd name="f21" fmla="+- f12 0 f11"/>
              <a:gd name="f22" fmla="*/ f13 f3 1"/>
              <a:gd name="f23" fmla="*/ f14 f3 1"/>
              <a:gd name="f24" fmla="*/ f15 f3 1"/>
              <a:gd name="f25" fmla="+- f19 0 10800"/>
              <a:gd name="f26" fmla="+- f20 0 10800"/>
              <a:gd name="f27" fmla="*/ f19 f16 1"/>
              <a:gd name="f28" fmla="*/ f20 f17 1"/>
              <a:gd name="f29" fmla="*/ 3200 f16 1"/>
              <a:gd name="f30" fmla="*/ 18400 f16 1"/>
              <a:gd name="f31" fmla="*/ 18400 f17 1"/>
              <a:gd name="f32" fmla="*/ 3200 f17 1"/>
              <a:gd name="f33" fmla="*/ f21 1 2"/>
              <a:gd name="f34" fmla="*/ 3160 f16 1"/>
              <a:gd name="f35" fmla="*/ 3160 f17 1"/>
              <a:gd name="f36" fmla="*/ f22 1 f5"/>
              <a:gd name="f37" fmla="*/ 18440 f17 1"/>
              <a:gd name="f38" fmla="*/ f23 1 f5"/>
              <a:gd name="f39" fmla="*/ 18440 f16 1"/>
              <a:gd name="f40" fmla="*/ f24 1 f5"/>
              <a:gd name="f41" fmla="*/ f25 f25 1"/>
              <a:gd name="f42" fmla="*/ f26 f26 1"/>
              <a:gd name="f43" fmla="+- 0 0 f26"/>
              <a:gd name="f44" fmla="+- 0 0 f25"/>
              <a:gd name="f45" fmla="+- f11 f33 0"/>
              <a:gd name="f46" fmla="*/ f33 f33 1"/>
              <a:gd name="f47" fmla="+- f36 0 f4"/>
              <a:gd name="f48" fmla="+- f38 0 f4"/>
              <a:gd name="f49" fmla="+- f40 0 f4"/>
              <a:gd name="f50" fmla="+- f41 f42 0"/>
              <a:gd name="f51" fmla="at2 f43 f44"/>
              <a:gd name="f52" fmla="sqrt f50"/>
              <a:gd name="f53" fmla="+- f51 f4 0"/>
              <a:gd name="f54" fmla="+- f52 0 10800"/>
              <a:gd name="f55" fmla="*/ f53 f8 1"/>
              <a:gd name="f56" fmla="*/ f55 1 f3"/>
              <a:gd name="f57" fmla="+- 0 0 f56"/>
              <a:gd name="f58" fmla="val f57"/>
              <a:gd name="f59" fmla="*/ f58 1 f18"/>
              <a:gd name="f60" fmla="+- f59 0 10"/>
              <a:gd name="f61" fmla="+- f59 10 0"/>
              <a:gd name="f62" fmla="*/ f59 f18 1"/>
              <a:gd name="f63" fmla="+- 0 0 f62"/>
              <a:gd name="f64" fmla="*/ f60 f18 1"/>
              <a:gd name="f65" fmla="*/ f61 f18 1"/>
              <a:gd name="f66" fmla="*/ f63 f3 1"/>
              <a:gd name="f67" fmla="+- 0 0 f64"/>
              <a:gd name="f68" fmla="+- 0 0 f65"/>
              <a:gd name="f69" fmla="*/ f66 1 f8"/>
              <a:gd name="f70" fmla="*/ f67 f3 1"/>
              <a:gd name="f71" fmla="*/ f68 f3 1"/>
              <a:gd name="f72" fmla="+- f69 0 f4"/>
              <a:gd name="f73" fmla="*/ f70 1 f8"/>
              <a:gd name="f74" fmla="*/ f71 1 f8"/>
              <a:gd name="f75" fmla="sin 1 f72"/>
              <a:gd name="f76" fmla="cos 1 f72"/>
              <a:gd name="f77" fmla="+- f73 0 f4"/>
              <a:gd name="f78" fmla="+- f74 0 f4"/>
              <a:gd name="f79" fmla="+- 0 0 f75"/>
              <a:gd name="f80" fmla="+- 0 0 f76"/>
              <a:gd name="f81" fmla="sin 1 f77"/>
              <a:gd name="f82" fmla="cos 1 f77"/>
              <a:gd name="f83" fmla="sin 1 f78"/>
              <a:gd name="f84" fmla="cos 1 f78"/>
              <a:gd name="f85" fmla="*/ 10800 f79 1"/>
              <a:gd name="f86" fmla="*/ 10800 f80 1"/>
              <a:gd name="f87" fmla="+- 0 0 f81"/>
              <a:gd name="f88" fmla="+- 0 0 f82"/>
              <a:gd name="f89" fmla="+- 0 0 f83"/>
              <a:gd name="f90" fmla="+- 0 0 f84"/>
              <a:gd name="f91" fmla="+- f85 10800 0"/>
              <a:gd name="f92" fmla="+- f86 10800 0"/>
              <a:gd name="f93" fmla="*/ 10800 f87 1"/>
              <a:gd name="f94" fmla="*/ 10800 f88 1"/>
              <a:gd name="f95" fmla="*/ 10800 f89 1"/>
              <a:gd name="f96" fmla="*/ 10800 f90 1"/>
              <a:gd name="f97" fmla="?: f54 f19 f91"/>
              <a:gd name="f98" fmla="?: f54 f20 f92"/>
              <a:gd name="f99" fmla="+- f93 10800 0"/>
              <a:gd name="f100" fmla="+- f94 10800 0"/>
              <a:gd name="f101" fmla="+- f95 10800 0"/>
              <a:gd name="f102" fmla="+- f96 10800 0"/>
              <a:gd name="f103" fmla="+- f101 0 f45"/>
              <a:gd name="f104" fmla="+- f102 0 f45"/>
              <a:gd name="f105" fmla="+- f99 0 f45"/>
              <a:gd name="f106" fmla="+- f100 0 f45"/>
              <a:gd name="f107" fmla="*/ f97 f16 1"/>
              <a:gd name="f108" fmla="*/ f98 f17 1"/>
              <a:gd name="f109" fmla="at2 f103 f104"/>
              <a:gd name="f110" fmla="at2 f105 f106"/>
              <a:gd name="f111" fmla="+- f109 f4 0"/>
              <a:gd name="f112" fmla="+- f110 f4 0"/>
              <a:gd name="f113" fmla="*/ f111 f8 1"/>
              <a:gd name="f114" fmla="*/ f112 f8 1"/>
              <a:gd name="f115" fmla="*/ f113 1 f3"/>
              <a:gd name="f116" fmla="*/ f114 1 f3"/>
              <a:gd name="f117" fmla="+- 0 0 f115"/>
              <a:gd name="f118" fmla="+- 0 0 f116"/>
              <a:gd name="f119" fmla="+- 0 0 f117"/>
              <a:gd name="f120" fmla="+- 0 0 f118"/>
              <a:gd name="f121" fmla="*/ f119 f3 1"/>
              <a:gd name="f122" fmla="*/ f120 f3 1"/>
              <a:gd name="f123" fmla="*/ f121 1 f8"/>
              <a:gd name="f124" fmla="*/ f122 1 f8"/>
              <a:gd name="f125" fmla="+- f123 0 f4"/>
              <a:gd name="f126" fmla="+- f124 0 f4"/>
              <a:gd name="f127" fmla="cos 1 f125"/>
              <a:gd name="f128" fmla="sin 1 f125"/>
              <a:gd name="f129" fmla="+- f126 0 f125"/>
              <a:gd name="f130" fmla="+- 0 0 f127"/>
              <a:gd name="f131" fmla="+- 0 0 f128"/>
              <a:gd name="f132" fmla="+- f129 f2 0"/>
              <a:gd name="f133" fmla="*/ f33 f130 1"/>
              <a:gd name="f134" fmla="*/ f33 f131 1"/>
              <a:gd name="f135" fmla="?: f129 f129 f132"/>
              <a:gd name="f136" fmla="*/ f133 f133 1"/>
              <a:gd name="f137" fmla="*/ f134 f134 1"/>
              <a:gd name="f138" fmla="+- f136 f137 0"/>
              <a:gd name="f139" fmla="sqrt f138"/>
              <a:gd name="f140" fmla="*/ f46 1 f139"/>
              <a:gd name="f141" fmla="*/ f130 f140 1"/>
              <a:gd name="f142" fmla="*/ f131 f140 1"/>
              <a:gd name="f143" fmla="+- f45 0 f141"/>
              <a:gd name="f144" fmla="+- f45 0 f142"/>
            </a:gdLst>
            <a:ahLst>
              <a:ahXY gdRefX="f0" minX="f9" maxX="f10" gdRefY="f1" minY="f9" maxY="f10">
                <a:pos x="f27" y="f28"/>
              </a:ahXY>
            </a:ahLst>
            <a:cxnLst>
              <a:cxn ang="3cd4">
                <a:pos x="hc" y="t"/>
              </a:cxn>
              <a:cxn ang="0">
                <a:pos x="r" y="vc"/>
              </a:cxn>
              <a:cxn ang="cd4">
                <a:pos x="hc" y="b"/>
              </a:cxn>
              <a:cxn ang="cd2">
                <a:pos x="l" y="vc"/>
              </a:cxn>
              <a:cxn ang="f47">
                <a:pos x="f34" y="f35"/>
              </a:cxn>
              <a:cxn ang="f48">
                <a:pos x="f34" y="f37"/>
              </a:cxn>
              <a:cxn ang="f48">
                <a:pos x="f39" y="f37"/>
              </a:cxn>
              <a:cxn ang="f47">
                <a:pos x="f39" y="f35"/>
              </a:cxn>
              <a:cxn ang="f49">
                <a:pos x="f107" y="f108"/>
              </a:cxn>
            </a:cxnLst>
            <a:rect l="f29" t="f32" r="f30" b="f31"/>
            <a:pathLst>
              <a:path w="21600" h="21600">
                <a:moveTo>
                  <a:pt x="f143" y="f144"/>
                </a:moveTo>
                <a:arcTo wR="f33" hR="f33" stAng="f125" swAng="f135"/>
                <a:lnTo>
                  <a:pt x="f97" y="f98"/>
                </a:lnTo>
                <a:close/>
              </a:path>
            </a:pathLst>
          </a:cu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Calibri"/>
              </a:rPr>
              <a:t>Logging in helps the user make an order…. Better put that logic in the </a:t>
            </a:r>
            <a:r>
              <a:rPr lang="en-GB" sz="1800" b="0" i="0" u="none" strike="noStrike" kern="1200" cap="none" spc="0" baseline="0" dirty="0" err="1">
                <a:solidFill>
                  <a:srgbClr val="000000"/>
                </a:solidFill>
                <a:uFillTx/>
                <a:latin typeface="Calibri"/>
              </a:rPr>
              <a:t>OrderHelper</a:t>
            </a:r>
            <a:r>
              <a:rPr lang="en-GB" sz="1800" b="0" i="0" u="none" strike="noStrike" kern="1200" cap="none" spc="0" baseline="0" dirty="0">
                <a:solidFill>
                  <a:srgbClr val="000000"/>
                </a:solidFill>
                <a:uFillTx/>
                <a:latin typeface="Calibri"/>
              </a:rPr>
              <a:t> class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13D4-38B4-42A6-A2A5-D351C658D9AC}"/>
              </a:ext>
            </a:extLst>
          </p:cNvPr>
          <p:cNvSpPr txBox="1">
            <a:spLocks noGrp="1"/>
          </p:cNvSpPr>
          <p:nvPr>
            <p:ph type="title"/>
          </p:nvPr>
        </p:nvSpPr>
        <p:spPr>
          <a:xfrm>
            <a:off x="838203" y="365129"/>
            <a:ext cx="8058369" cy="1325559"/>
          </a:xfrm>
        </p:spPr>
        <p:txBody>
          <a:bodyPr/>
          <a:lstStyle/>
          <a:p>
            <a:pPr lvl="0"/>
            <a:r>
              <a:rPr lang="en-GB">
                <a:solidFill>
                  <a:srgbClr val="D9D9D9"/>
                </a:solidFill>
              </a:rPr>
              <a:t>What’s worse than seeing regions separating methods?</a:t>
            </a:r>
          </a:p>
        </p:txBody>
      </p:sp>
      <p:pic>
        <p:nvPicPr>
          <p:cNvPr id="3" name="Content Placeholder 4">
            <a:extLst>
              <a:ext uri="{FF2B5EF4-FFF2-40B4-BE49-F238E27FC236}">
                <a16:creationId xmlns:a16="http://schemas.microsoft.com/office/drawing/2014/main" id="{443436C1-1A2C-4EE3-9EDD-E1960BC580A2}"/>
              </a:ext>
            </a:extLst>
          </p:cNvPr>
          <p:cNvPicPr>
            <a:picLocks noGrp="1" noChangeAspect="1"/>
          </p:cNvPicPr>
          <p:nvPr>
            <p:ph idx="1"/>
          </p:nvPr>
        </p:nvPicPr>
        <p:blipFill>
          <a:blip r:embed="rId3"/>
          <a:stretch>
            <a:fillRect/>
          </a:stretch>
        </p:blipFill>
        <p:spPr>
          <a:xfrm>
            <a:off x="9531275" y="33905"/>
            <a:ext cx="2660721" cy="6824094"/>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AF70-BA61-4613-BDF4-C9F4A3E75445}"/>
              </a:ext>
            </a:extLst>
          </p:cNvPr>
          <p:cNvSpPr>
            <a:spLocks noGrp="1"/>
          </p:cNvSpPr>
          <p:nvPr>
            <p:ph type="title"/>
          </p:nvPr>
        </p:nvSpPr>
        <p:spPr/>
        <p:txBody>
          <a:bodyPr/>
          <a:lstStyle/>
          <a:p>
            <a:r>
              <a:rPr lang="en-GB" dirty="0">
                <a:solidFill>
                  <a:schemeClr val="bg1">
                    <a:lumMod val="85000"/>
                  </a:schemeClr>
                </a:solidFill>
              </a:rPr>
              <a:t>Stupid quick summary</a:t>
            </a:r>
          </a:p>
        </p:txBody>
      </p:sp>
      <p:sp>
        <p:nvSpPr>
          <p:cNvPr id="3" name="Content Placeholder 2">
            <a:extLst>
              <a:ext uri="{FF2B5EF4-FFF2-40B4-BE49-F238E27FC236}">
                <a16:creationId xmlns:a16="http://schemas.microsoft.com/office/drawing/2014/main" id="{4659FFF3-CD13-4E83-A8A6-D01D3073FEC7}"/>
              </a:ext>
            </a:extLst>
          </p:cNvPr>
          <p:cNvSpPr>
            <a:spLocks noGrp="1"/>
          </p:cNvSpPr>
          <p:nvPr>
            <p:ph idx="1"/>
          </p:nvPr>
        </p:nvSpPr>
        <p:spPr/>
        <p:txBody>
          <a:bodyPr/>
          <a:lstStyle/>
          <a:p>
            <a:r>
              <a:rPr lang="en-GB" dirty="0">
                <a:solidFill>
                  <a:schemeClr val="bg1">
                    <a:lumMod val="85000"/>
                  </a:schemeClr>
                </a:solidFill>
              </a:rPr>
              <a:t>Everything should describe itself</a:t>
            </a:r>
          </a:p>
          <a:p>
            <a:pPr lvl="1"/>
            <a:r>
              <a:rPr lang="en-GB" dirty="0">
                <a:solidFill>
                  <a:schemeClr val="bg1">
                    <a:lumMod val="85000"/>
                  </a:schemeClr>
                </a:solidFill>
              </a:rPr>
              <a:t>Variables</a:t>
            </a:r>
          </a:p>
          <a:p>
            <a:pPr lvl="1"/>
            <a:r>
              <a:rPr lang="en-GB" dirty="0">
                <a:solidFill>
                  <a:schemeClr val="bg1">
                    <a:lumMod val="85000"/>
                  </a:schemeClr>
                </a:solidFill>
              </a:rPr>
              <a:t>Functions</a:t>
            </a:r>
          </a:p>
          <a:p>
            <a:pPr lvl="1"/>
            <a:r>
              <a:rPr lang="en-GB" dirty="0">
                <a:solidFill>
                  <a:schemeClr val="bg1">
                    <a:lumMod val="85000"/>
                  </a:schemeClr>
                </a:solidFill>
              </a:rPr>
              <a:t>Classes </a:t>
            </a:r>
          </a:p>
          <a:p>
            <a:r>
              <a:rPr lang="en-GB" dirty="0">
                <a:solidFill>
                  <a:schemeClr val="bg1">
                    <a:lumMod val="85000"/>
                  </a:schemeClr>
                </a:solidFill>
              </a:rPr>
              <a:t>Use constants </a:t>
            </a:r>
            <a:r>
              <a:rPr lang="en-GB" i="1" dirty="0">
                <a:solidFill>
                  <a:schemeClr val="bg1">
                    <a:lumMod val="85000"/>
                  </a:schemeClr>
                </a:solidFill>
              </a:rPr>
              <a:t>everywhere </a:t>
            </a:r>
            <a:r>
              <a:rPr lang="en-GB" dirty="0">
                <a:solidFill>
                  <a:schemeClr val="bg1">
                    <a:lumMod val="85000"/>
                  </a:schemeClr>
                </a:solidFill>
              </a:rPr>
              <a:t>(if your language supports)</a:t>
            </a:r>
          </a:p>
          <a:p>
            <a:r>
              <a:rPr lang="en-GB" dirty="0">
                <a:solidFill>
                  <a:schemeClr val="bg1">
                    <a:lumMod val="85000"/>
                  </a:schemeClr>
                </a:solidFill>
              </a:rPr>
              <a:t>Please </a:t>
            </a:r>
            <a:r>
              <a:rPr lang="en-GB" dirty="0" err="1">
                <a:solidFill>
                  <a:schemeClr val="bg1">
                    <a:lumMod val="85000"/>
                  </a:schemeClr>
                </a:solidFill>
              </a:rPr>
              <a:t>please</a:t>
            </a:r>
            <a:r>
              <a:rPr lang="en-GB" dirty="0">
                <a:solidFill>
                  <a:schemeClr val="bg1">
                    <a:lumMod val="85000"/>
                  </a:schemeClr>
                </a:solidFill>
              </a:rPr>
              <a:t> </a:t>
            </a:r>
            <a:r>
              <a:rPr lang="en-GB" dirty="0" err="1">
                <a:solidFill>
                  <a:schemeClr val="bg1">
                    <a:lumMod val="85000"/>
                  </a:schemeClr>
                </a:solidFill>
              </a:rPr>
              <a:t>please</a:t>
            </a:r>
            <a:r>
              <a:rPr lang="en-GB" dirty="0">
                <a:solidFill>
                  <a:schemeClr val="bg1">
                    <a:lumMod val="85000"/>
                  </a:schemeClr>
                </a:solidFill>
              </a:rPr>
              <a:t> don’t use comments for source control</a:t>
            </a:r>
          </a:p>
          <a:p>
            <a:pPr lvl="1"/>
            <a:r>
              <a:rPr lang="en-GB" dirty="0">
                <a:solidFill>
                  <a:schemeClr val="bg1">
                    <a:lumMod val="85000"/>
                  </a:schemeClr>
                </a:solidFill>
              </a:rPr>
              <a:t>Actually, just use less comments in general</a:t>
            </a:r>
          </a:p>
          <a:p>
            <a:r>
              <a:rPr lang="en-GB" dirty="0">
                <a:solidFill>
                  <a:schemeClr val="bg1">
                    <a:lumMod val="85000"/>
                  </a:schemeClr>
                </a:solidFill>
              </a:rPr>
              <a:t>Less repetition </a:t>
            </a:r>
          </a:p>
          <a:p>
            <a:pPr lvl="1"/>
            <a:r>
              <a:rPr lang="en-GB" dirty="0">
                <a:solidFill>
                  <a:schemeClr val="bg1">
                    <a:lumMod val="85000"/>
                  </a:schemeClr>
                </a:solidFill>
              </a:rPr>
              <a:t>Don’t be afraid to refactor</a:t>
            </a:r>
          </a:p>
        </p:txBody>
      </p:sp>
      <p:sp>
        <p:nvSpPr>
          <p:cNvPr id="4" name="TextBox 3">
            <a:extLst>
              <a:ext uri="{FF2B5EF4-FFF2-40B4-BE49-F238E27FC236}">
                <a16:creationId xmlns:a16="http://schemas.microsoft.com/office/drawing/2014/main" id="{2C68835E-FBFF-43D7-A0EE-61461480B01E}"/>
              </a:ext>
            </a:extLst>
          </p:cNvPr>
          <p:cNvSpPr txBox="1"/>
          <p:nvPr/>
        </p:nvSpPr>
        <p:spPr>
          <a:xfrm>
            <a:off x="5859262" y="766298"/>
            <a:ext cx="5671809" cy="523220"/>
          </a:xfrm>
          <a:prstGeom prst="rect">
            <a:avLst/>
          </a:prstGeom>
          <a:noFill/>
        </p:spPr>
        <p:txBody>
          <a:bodyPr wrap="none" rtlCol="0">
            <a:spAutoFit/>
          </a:bodyPr>
          <a:lstStyle/>
          <a:p>
            <a:r>
              <a:rPr lang="en-GB" sz="2800" dirty="0">
                <a:solidFill>
                  <a:schemeClr val="bg1">
                    <a:lumMod val="85000"/>
                  </a:schemeClr>
                </a:solidFill>
              </a:rPr>
              <a:t>(as I want to leave time for questions)</a:t>
            </a:r>
          </a:p>
        </p:txBody>
      </p:sp>
    </p:spTree>
    <p:extLst>
      <p:ext uri="{BB962C8B-B14F-4D97-AF65-F5344CB8AC3E}">
        <p14:creationId xmlns:p14="http://schemas.microsoft.com/office/powerpoint/2010/main" val="339920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10A6-EF71-4396-BC52-C475EA43E925}"/>
              </a:ext>
            </a:extLst>
          </p:cNvPr>
          <p:cNvSpPr txBox="1">
            <a:spLocks noGrp="1"/>
          </p:cNvSpPr>
          <p:nvPr>
            <p:ph type="title"/>
          </p:nvPr>
        </p:nvSpPr>
        <p:spPr/>
        <p:txBody>
          <a:bodyPr/>
          <a:lstStyle/>
          <a:p>
            <a:pPr lvl="0"/>
            <a:r>
              <a:rPr lang="en-GB">
                <a:solidFill>
                  <a:srgbClr val="D9D9D9"/>
                </a:solidFill>
              </a:rPr>
              <a:t>Closing</a:t>
            </a:r>
          </a:p>
        </p:txBody>
      </p:sp>
      <p:sp>
        <p:nvSpPr>
          <p:cNvPr id="3" name="Content Placeholder 2">
            <a:extLst>
              <a:ext uri="{FF2B5EF4-FFF2-40B4-BE49-F238E27FC236}">
                <a16:creationId xmlns:a16="http://schemas.microsoft.com/office/drawing/2014/main" id="{5080B2BF-8354-41C4-B00E-8B6513F39F2F}"/>
              </a:ext>
            </a:extLst>
          </p:cNvPr>
          <p:cNvSpPr txBox="1">
            <a:spLocks noGrp="1"/>
          </p:cNvSpPr>
          <p:nvPr>
            <p:ph idx="1"/>
          </p:nvPr>
        </p:nvSpPr>
        <p:spPr/>
        <p:txBody>
          <a:bodyPr/>
          <a:lstStyle/>
          <a:p>
            <a:pPr lvl="0"/>
            <a:r>
              <a:rPr lang="en-GB">
                <a:solidFill>
                  <a:srgbClr val="D9D9D9"/>
                </a:solidFill>
              </a:rPr>
              <a:t>Like anything it takes time</a:t>
            </a:r>
          </a:p>
          <a:p>
            <a:pPr lvl="0"/>
            <a:r>
              <a:rPr lang="en-GB">
                <a:solidFill>
                  <a:srgbClr val="D9D9D9"/>
                </a:solidFill>
              </a:rPr>
              <a:t>Lead by example</a:t>
            </a:r>
          </a:p>
          <a:p>
            <a:pPr lvl="0"/>
            <a:r>
              <a:rPr lang="en-GB">
                <a:solidFill>
                  <a:srgbClr val="D9D9D9"/>
                </a:solidFill>
              </a:rPr>
              <a:t>Create a coding standards charter for you and your team to hold each other accountable to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170F-796B-4EC1-85F3-42F3AAD3D80C}"/>
              </a:ext>
            </a:extLst>
          </p:cNvPr>
          <p:cNvSpPr txBox="1">
            <a:spLocks noGrp="1"/>
          </p:cNvSpPr>
          <p:nvPr>
            <p:ph type="title"/>
          </p:nvPr>
        </p:nvSpPr>
        <p:spPr/>
        <p:txBody>
          <a:bodyPr/>
          <a:lstStyle/>
          <a:p>
            <a:pPr lvl="0"/>
            <a:r>
              <a:rPr lang="en-GB">
                <a:solidFill>
                  <a:srgbClr val="D9D9D9"/>
                </a:solidFill>
              </a:rPr>
              <a:t>Questions?</a:t>
            </a:r>
          </a:p>
        </p:txBody>
      </p:sp>
      <p:sp>
        <p:nvSpPr>
          <p:cNvPr id="3" name="Text Placeholder 3">
            <a:extLst>
              <a:ext uri="{FF2B5EF4-FFF2-40B4-BE49-F238E27FC236}">
                <a16:creationId xmlns:a16="http://schemas.microsoft.com/office/drawing/2014/main" id="{242DF966-B8D2-4EE0-BD3B-F218563D9AFA}"/>
              </a:ext>
            </a:extLst>
          </p:cNvPr>
          <p:cNvSpPr txBox="1">
            <a:spLocks noGrp="1"/>
          </p:cNvSpPr>
          <p:nvPr>
            <p:ph type="body" idx="1"/>
          </p:nvPr>
        </p:nvSpPr>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3D11335B112E40A1CAB00602B875F7" ma:contentTypeVersion="10" ma:contentTypeDescription="Create a new document." ma:contentTypeScope="" ma:versionID="637a9af276368e075e01e5e50fd96d34">
  <xsd:schema xmlns:xsd="http://www.w3.org/2001/XMLSchema" xmlns:xs="http://www.w3.org/2001/XMLSchema" xmlns:p="http://schemas.microsoft.com/office/2006/metadata/properties" xmlns:ns3="044c8430-fbd3-4a6b-a587-4d2d73ed0fc9" targetNamespace="http://schemas.microsoft.com/office/2006/metadata/properties" ma:root="true" ma:fieldsID="b7eaa252db5fc7f1524a9d2c1183a445" ns3:_="">
    <xsd:import namespace="044c8430-fbd3-4a6b-a587-4d2d73ed0fc9"/>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c8430-fbd3-4a6b-a587-4d2d73ed0f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71249A-41B0-4630-A251-565D78E730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c8430-fbd3-4a6b-a587-4d2d73ed0f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861200-D872-4D6D-9712-478048A7D859}">
  <ds:schemaRefs>
    <ds:schemaRef ds:uri="http://schemas.microsoft.com/sharepoint/v3/contenttype/forms"/>
  </ds:schemaRefs>
</ds:datastoreItem>
</file>

<file path=customXml/itemProps3.xml><?xml version="1.0" encoding="utf-8"?>
<ds:datastoreItem xmlns:ds="http://schemas.openxmlformats.org/officeDocument/2006/customXml" ds:itemID="{6A646432-80E8-478E-A087-449DF7700D54}">
  <ds:schemaRefs>
    <ds:schemaRef ds:uri="http://purl.org/dc/terms/"/>
    <ds:schemaRef ds:uri="http://schemas.microsoft.com/office/2006/metadata/propertie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044c8430-fbd3-4a6b-a587-4d2d73ed0fc9"/>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Office%20Theme</Template>
  <TotalTime>577</TotalTime>
  <Words>972</Words>
  <Application>Microsoft Office PowerPoint</Application>
  <PresentationFormat>Widescreen</PresentationFormat>
  <Paragraphs>118</Paragraphs>
  <Slides>23</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An introduction to writing code for humans </vt:lpstr>
      <vt:lpstr>Introduction</vt:lpstr>
      <vt:lpstr>Think about it</vt:lpstr>
      <vt:lpstr>Why write cleaner code?</vt:lpstr>
      <vt:lpstr>What does this do?</vt:lpstr>
      <vt:lpstr>It does the same as this</vt:lpstr>
      <vt:lpstr>PowerPoint Presentation</vt:lpstr>
      <vt:lpstr>WTF are magic variables anyway?</vt:lpstr>
      <vt:lpstr>WTF are magic variables anyway?</vt:lpstr>
      <vt:lpstr>FFS use words</vt:lpstr>
      <vt:lpstr>FFS use words</vt:lpstr>
      <vt:lpstr>Signal to noise wastes cognitive resource</vt:lpstr>
      <vt:lpstr>PowerPoint Presentation</vt:lpstr>
      <vt:lpstr>Your if’s are always describing something.   So just call it what it is</vt:lpstr>
      <vt:lpstr>Signal to noise wastes cognitive resource</vt:lpstr>
      <vt:lpstr>What’s the most dangerous code in source control?</vt:lpstr>
      <vt:lpstr>PowerPoint Presentation</vt:lpstr>
      <vt:lpstr>The same goes for unused code</vt:lpstr>
      <vt:lpstr>PowerPoint Presentation</vt:lpstr>
      <vt:lpstr>What’s worse than seeing regions separating methods?</vt:lpstr>
      <vt:lpstr>Stupid quick summary</vt:lpstr>
      <vt:lpstr>Closing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writing code for humans </dc:title>
  <dc:creator>Tippett,S,Scott,TAJ451 R</dc:creator>
  <cp:lastModifiedBy>Tippett,S,Scott,TAJ451 R</cp:lastModifiedBy>
  <cp:revision>5</cp:revision>
  <dcterms:created xsi:type="dcterms:W3CDTF">2020-03-05T12:06:29Z</dcterms:created>
  <dcterms:modified xsi:type="dcterms:W3CDTF">2020-03-11T13:56:31Z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0x010100B33D11335B112E40A1CAB00602B875F7</vt:lpwstr>
  </property>
</Properties>
</file>